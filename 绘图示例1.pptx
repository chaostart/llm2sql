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2" r:id="rId3"/>
    <p:sldId id="256" r:id="rId4"/>
    <p:sldId id="266" r:id="rId5"/>
    <p:sldId id="269" r:id="rId6"/>
    <p:sldId id="267" r:id="rId7"/>
    <p:sldId id="265" r:id="rId9"/>
    <p:sldId id="268" r:id="rId10"/>
    <p:sldId id="257" r:id="rId11"/>
    <p:sldId id="258" r:id="rId12"/>
    <p:sldId id="259" r:id="rId13"/>
    <p:sldId id="260" r:id="rId14"/>
    <p:sldId id="261" r:id="rId15"/>
    <p:sldId id="289" r:id="rId16"/>
    <p:sldId id="288" r:id="rId17"/>
    <p:sldId id="287" r:id="rId18"/>
    <p:sldId id="290" r:id="rId19"/>
    <p:sldId id="292" r:id="rId20"/>
    <p:sldId id="293" r:id="rId21"/>
    <p:sldId id="294" r:id="rId22"/>
    <p:sldId id="291" r:id="rId23"/>
    <p:sldId id="270" r:id="rId24"/>
    <p:sldId id="264" r:id="rId25"/>
    <p:sldId id="263" r:id="rId26"/>
    <p:sldId id="281" r:id="rId27"/>
    <p:sldId id="272" r:id="rId28"/>
    <p:sldId id="280" r:id="rId29"/>
    <p:sldId id="273" r:id="rId30"/>
    <p:sldId id="274" r:id="rId31"/>
    <p:sldId id="279" r:id="rId32"/>
    <p:sldId id="285" r:id="rId33"/>
    <p:sldId id="275" r:id="rId34"/>
    <p:sldId id="286" r:id="rId35"/>
    <p:sldId id="271" r:id="rId36"/>
    <p:sldId id="282" r:id="rId37"/>
    <p:sldId id="276" r:id="rId38"/>
    <p:sldId id="283" r:id="rId39"/>
    <p:sldId id="277" r:id="rId40"/>
    <p:sldId id="284" r:id="rId41"/>
    <p:sldId id="278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0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jun Guo" initials="XG" lastIdx="0" clrIdx="0"/>
  <p:cmAuthor id="2" name="仲从庆" initials="" lastIdx="0" clrIdx="1"/>
  <p:cmAuthor id="3" name="Shendm" initials="S" lastIdx="0" clrIdx="2"/>
  <p:cmAuthor id="4" name="蔡 中华" initials="蔡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441"/>
    <a:srgbClr val="B14501"/>
    <a:srgbClr val="4874CB"/>
    <a:srgbClr val="4874BF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30"/>
        <p:guide pos="39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封面（无副标题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4364" y="540000"/>
            <a:ext cx="1669363" cy="540000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4608000" y="5816889"/>
            <a:ext cx="29760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600" b="0" i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www.sciyon.com</a:t>
            </a:r>
            <a:endParaRPr lang="zh-CN" altLang="en-US" sz="1400" b="0" i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0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3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93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3" Type="http://schemas.openxmlformats.org/officeDocument/2006/relationships/image" Target="../media/image17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18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6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image" Target="../media/image21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Relationship Id="rId3" Type="http://schemas.openxmlformats.org/officeDocument/2006/relationships/image" Target="../media/image22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668395" y="216979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日期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06060" y="2188845"/>
            <a:ext cx="1582420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工作表名称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52560" y="215074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列名称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96110" y="217995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公司名称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46620" y="217995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行名称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7750" y="149860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</a:t>
            </a:r>
            <a:r>
              <a:rPr lang="zh-CN" altLang="en-US"/>
              <a:t>、排列组合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47750" y="4345940"/>
            <a:ext cx="4418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、向量召回</a:t>
            </a:r>
            <a:r>
              <a:rPr lang="en-US" altLang="zh-CN"/>
              <a:t>+</a:t>
            </a:r>
            <a:r>
              <a:rPr lang="zh-CN" altLang="en-US"/>
              <a:t>文本召回</a:t>
            </a:r>
            <a:r>
              <a:rPr lang="en-US" altLang="zh-CN"/>
              <a:t>  size=100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677535" y="2531745"/>
            <a:ext cx="7524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.</a:t>
            </a:r>
            <a:endParaRPr lang="en-US" altLang="zh-CN" sz="2000" b="1"/>
          </a:p>
          <a:p>
            <a:r>
              <a:rPr lang="en-US" altLang="zh-CN" sz="2000" b="1"/>
              <a:t>.</a:t>
            </a:r>
            <a:endParaRPr lang="en-US" altLang="zh-CN" sz="2000" b="1"/>
          </a:p>
          <a:p>
            <a:r>
              <a:rPr lang="en-US" altLang="zh-CN" sz="2000" b="1"/>
              <a:t>.</a:t>
            </a:r>
            <a:endParaRPr lang="en-US" altLang="zh-CN" sz="2000" b="1"/>
          </a:p>
        </p:txBody>
      </p:sp>
      <p:sp>
        <p:nvSpPr>
          <p:cNvPr id="22" name="文本框 21"/>
          <p:cNvSpPr txBox="1"/>
          <p:nvPr/>
        </p:nvSpPr>
        <p:spPr>
          <a:xfrm>
            <a:off x="2400300" y="4994910"/>
            <a:ext cx="763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</a:t>
            </a:r>
            <a:r>
              <a:rPr lang="en-US" altLang="zh-CN"/>
              <a:t>+</a:t>
            </a:r>
            <a:r>
              <a:rPr lang="zh-CN" altLang="en-US"/>
              <a:t>向量召回</a:t>
            </a:r>
            <a:r>
              <a:rPr lang="en-US" altLang="zh-CN"/>
              <a:t>   </a:t>
            </a:r>
            <a:r>
              <a:rPr lang="zh-CN"/>
              <a:t>每次</a:t>
            </a:r>
            <a:r>
              <a:rPr lang="zh-CN" altLang="en-US"/>
              <a:t>最后取</a:t>
            </a:r>
            <a:r>
              <a:rPr lang="en-US" altLang="zh-CN"/>
              <a:t>score</a:t>
            </a:r>
            <a:r>
              <a:rPr lang="zh-CN" altLang="en-US"/>
              <a:t>得分最高的前</a:t>
            </a:r>
            <a:r>
              <a:rPr lang="en-US" altLang="zh-CN"/>
              <a:t>10</a:t>
            </a:r>
            <a:r>
              <a:rPr lang="zh-CN" altLang="en-US"/>
              <a:t>条数据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47750" y="902970"/>
            <a:ext cx="9829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、提取关键词（</a:t>
            </a:r>
            <a:r>
              <a:rPr lang="en-US" altLang="zh-CN"/>
              <a:t>[n*</a:t>
            </a:r>
            <a:r>
              <a:rPr lang="zh-CN" altLang="en-US"/>
              <a:t>公司名称</a:t>
            </a:r>
            <a:r>
              <a:rPr lang="en-US" altLang="zh-CN"/>
              <a:t>]+[m*</a:t>
            </a:r>
            <a:r>
              <a:rPr lang="zh-CN" altLang="en-US"/>
              <a:t>日期</a:t>
            </a:r>
            <a:r>
              <a:rPr lang="en-US" altLang="zh-CN"/>
              <a:t>]+[a*</a:t>
            </a:r>
            <a:r>
              <a:rPr lang="zh-CN" altLang="en-US"/>
              <a:t>工作表名称</a:t>
            </a:r>
            <a:r>
              <a:rPr lang="en-US" altLang="zh-CN"/>
              <a:t>]+[b*</a:t>
            </a:r>
            <a:r>
              <a:rPr lang="zh-CN" altLang="en-US"/>
              <a:t>行名称</a:t>
            </a:r>
            <a:r>
              <a:rPr lang="en-US" altLang="zh-CN"/>
              <a:t>]+[c*</a:t>
            </a:r>
            <a:r>
              <a:rPr lang="zh-CN" altLang="en-US"/>
              <a:t>列名称</a:t>
            </a:r>
            <a:r>
              <a:rPr lang="en-US" altLang="zh-CN"/>
              <a:t>]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502535" y="1498600"/>
            <a:ext cx="2964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共计</a:t>
            </a:r>
            <a:r>
              <a:rPr lang="en-US" altLang="zh-CN"/>
              <a:t>n*m*a*b*c</a:t>
            </a:r>
            <a:r>
              <a:rPr lang="zh-CN" altLang="en-US"/>
              <a:t>个子查询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502535" y="6264910"/>
            <a:ext cx="714756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引导式个数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=</a:t>
            </a:r>
            <a:r>
              <a:rPr lang="en-US">
                <a:solidFill>
                  <a:schemeClr val="tx1"/>
                </a:solidFill>
                <a:sym typeface="+mn-ea"/>
              </a:rPr>
              <a:t>n*m*a*b*c*10</a:t>
            </a:r>
            <a:endParaRPr lang="en-US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665" y="318770"/>
            <a:ext cx="8115300" cy="4667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96110" y="358711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公司名称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00145" y="360172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日期</a:t>
            </a:r>
            <a:r>
              <a:rPr lang="en-US" altLang="zh-CN">
                <a:solidFill>
                  <a:schemeClr val="tx1"/>
                </a:solidFill>
              </a:rPr>
              <a:t>m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37810" y="3620770"/>
            <a:ext cx="1582420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工作表名称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084310" y="358267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列名称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278370" y="361188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行名称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47750" y="5698490"/>
            <a:ext cx="4418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zh-CN"/>
              <a:t>前端进行引导式</a:t>
            </a:r>
            <a:endParaRPr 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02815" y="3036570"/>
            <a:ext cx="1438910" cy="5899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水务行业工业智能体系统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07485" y="3131820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用户对话聊天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57015" y="4739640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角色权限管理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02045" y="440499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知识库权限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75780" y="360743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问答应用管理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82505" y="4053840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模型管理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72980" y="320992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知识库管理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68795" y="2753360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用户反馈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93155" y="512762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问答应用权限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01065" y="3089275"/>
            <a:ext cx="378460" cy="3594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707390" y="3704590"/>
            <a:ext cx="832485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085850" y="3448685"/>
            <a:ext cx="9525" cy="605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771525" y="4047490"/>
            <a:ext cx="312420" cy="3028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03630" y="4046855"/>
            <a:ext cx="266065" cy="32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1"/>
            <a:endCxn id="4" idx="3"/>
          </p:cNvCxnSpPr>
          <p:nvPr/>
        </p:nvCxnSpPr>
        <p:spPr>
          <a:xfrm flipH="1" flipV="1">
            <a:off x="3641725" y="3331845"/>
            <a:ext cx="365760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6" idx="1"/>
            <a:endCxn id="4" idx="2"/>
          </p:cNvCxnSpPr>
          <p:nvPr/>
        </p:nvCxnSpPr>
        <p:spPr>
          <a:xfrm rot="10800000">
            <a:off x="2922270" y="3626485"/>
            <a:ext cx="1134745" cy="1321435"/>
          </a:xfrm>
          <a:prstGeom prst="bentConnector2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9473565" y="382397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824595" y="3690620"/>
            <a:ext cx="714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提供服务</a:t>
            </a:r>
            <a:endParaRPr lang="zh-CN" altLang="en-US" sz="1000"/>
          </a:p>
        </p:txBody>
      </p:sp>
      <p:cxnSp>
        <p:nvCxnSpPr>
          <p:cNvPr id="31" name="直接箭头连接符 30"/>
          <p:cNvCxnSpPr>
            <a:stCxn id="30" idx="1"/>
            <a:endCxn id="8" idx="3"/>
          </p:cNvCxnSpPr>
          <p:nvPr/>
        </p:nvCxnSpPr>
        <p:spPr>
          <a:xfrm flipH="1">
            <a:off x="8239125" y="3813175"/>
            <a:ext cx="585470" cy="25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8" idx="1"/>
            <a:endCxn id="11" idx="1"/>
          </p:cNvCxnSpPr>
          <p:nvPr/>
        </p:nvCxnSpPr>
        <p:spPr>
          <a:xfrm rot="10800000">
            <a:off x="6868795" y="2961640"/>
            <a:ext cx="6985" cy="854075"/>
          </a:xfrm>
          <a:prstGeom prst="bentConnector3">
            <a:avLst>
              <a:gd name="adj1" fmla="val 3509091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 flipV="1">
            <a:off x="6429375" y="3376295"/>
            <a:ext cx="204470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5736590" y="3220720"/>
            <a:ext cx="714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提供服务</a:t>
            </a:r>
            <a:endParaRPr lang="zh-CN" altLang="en-US" sz="1000"/>
          </a:p>
        </p:txBody>
      </p:sp>
      <p:cxnSp>
        <p:nvCxnSpPr>
          <p:cNvPr id="35" name="直接箭头连接符 34"/>
          <p:cNvCxnSpPr>
            <a:stCxn id="34" idx="1"/>
            <a:endCxn id="5" idx="3"/>
          </p:cNvCxnSpPr>
          <p:nvPr/>
        </p:nvCxnSpPr>
        <p:spPr>
          <a:xfrm flipH="1" flipV="1">
            <a:off x="5370830" y="3340100"/>
            <a:ext cx="36576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4" idx="1"/>
          </p:cNvCxnSpPr>
          <p:nvPr/>
        </p:nvCxnSpPr>
        <p:spPr>
          <a:xfrm flipH="1">
            <a:off x="1581150" y="3331845"/>
            <a:ext cx="621665" cy="6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7" idx="1"/>
            <a:endCxn id="12" idx="1"/>
          </p:cNvCxnSpPr>
          <p:nvPr/>
        </p:nvCxnSpPr>
        <p:spPr>
          <a:xfrm rot="10800000" flipV="1">
            <a:off x="6193155" y="4613275"/>
            <a:ext cx="8890" cy="722630"/>
          </a:xfrm>
          <a:prstGeom prst="bentConnector3">
            <a:avLst>
              <a:gd name="adj1" fmla="val 2778571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endCxn id="6" idx="3"/>
          </p:cNvCxnSpPr>
          <p:nvPr/>
        </p:nvCxnSpPr>
        <p:spPr>
          <a:xfrm flipH="1" flipV="1">
            <a:off x="5420360" y="4947920"/>
            <a:ext cx="532765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/>
          <p:nvPr/>
        </p:nvCxnSpPr>
        <p:spPr>
          <a:xfrm rot="10800000" flipH="1" flipV="1">
            <a:off x="9863455" y="3418205"/>
            <a:ext cx="9525" cy="843915"/>
          </a:xfrm>
          <a:prstGeom prst="bentConnector3">
            <a:avLst>
              <a:gd name="adj1" fmla="val -250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33120" y="111379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前端层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833120" y="211264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业务层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833120" y="325437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核心层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833120" y="417766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数据层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833120" y="524256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基础服务层</a:t>
            </a:r>
            <a:endParaRPr lang="zh-CN" altLang="en-US"/>
          </a:p>
        </p:txBody>
      </p:sp>
      <p:sp>
        <p:nvSpPr>
          <p:cNvPr id="23" name="圆柱形 22"/>
          <p:cNvSpPr/>
          <p:nvPr/>
        </p:nvSpPr>
        <p:spPr>
          <a:xfrm>
            <a:off x="282702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MYSQL</a:t>
            </a:r>
            <a:endParaRPr lang="en-US" altLang="zh-CN"/>
          </a:p>
        </p:txBody>
      </p:sp>
      <p:sp>
        <p:nvSpPr>
          <p:cNvPr id="25" name="圆柱形 24"/>
          <p:cNvSpPr/>
          <p:nvPr/>
        </p:nvSpPr>
        <p:spPr>
          <a:xfrm>
            <a:off x="427101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Redis</a:t>
            </a:r>
            <a:endParaRPr lang="en-US" altLang="zh-CN"/>
          </a:p>
        </p:txBody>
      </p:sp>
      <p:sp>
        <p:nvSpPr>
          <p:cNvPr id="26" name="圆柱形 25"/>
          <p:cNvSpPr/>
          <p:nvPr/>
        </p:nvSpPr>
        <p:spPr>
          <a:xfrm>
            <a:off x="571500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Minio</a:t>
            </a:r>
            <a:endParaRPr lang="en-US" altLang="zh-CN"/>
          </a:p>
        </p:txBody>
      </p:sp>
      <p:sp>
        <p:nvSpPr>
          <p:cNvPr id="27" name="圆柱形 26"/>
          <p:cNvSpPr/>
          <p:nvPr/>
        </p:nvSpPr>
        <p:spPr>
          <a:xfrm>
            <a:off x="7309485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ElasticSearch</a:t>
            </a:r>
            <a:endParaRPr lang="en-US" altLang="zh-CN"/>
          </a:p>
        </p:txBody>
      </p:sp>
      <p:sp>
        <p:nvSpPr>
          <p:cNvPr id="40" name="立方体 39"/>
          <p:cNvSpPr/>
          <p:nvPr/>
        </p:nvSpPr>
        <p:spPr>
          <a:xfrm>
            <a:off x="8836660" y="5146675"/>
            <a:ext cx="1169035" cy="673100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大模型</a:t>
            </a:r>
            <a:endParaRPr lang="zh-CN" altLang="en-US"/>
          </a:p>
        </p:txBody>
      </p:sp>
      <p:sp>
        <p:nvSpPr>
          <p:cNvPr id="41" name="立方体 40"/>
          <p:cNvSpPr/>
          <p:nvPr/>
        </p:nvSpPr>
        <p:spPr>
          <a:xfrm>
            <a:off x="10270490" y="5147310"/>
            <a:ext cx="1264285" cy="661035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向量模型</a:t>
            </a:r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2816225" y="3268980"/>
            <a:ext cx="8881745" cy="5994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903855" y="426783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PyMySQL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4492625" y="4267835"/>
            <a:ext cx="107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redis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5744210" y="429641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minio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7157720" y="4286885"/>
            <a:ext cx="177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elasticsearch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9418320" y="4296410"/>
            <a:ext cx="177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Xinference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9" name="圆角矩形 48"/>
          <p:cNvSpPr/>
          <p:nvPr/>
        </p:nvSpPr>
        <p:spPr>
          <a:xfrm>
            <a:off x="2799080" y="4277360"/>
            <a:ext cx="8899525" cy="4076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866390" y="225234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专家库对话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4465320" y="2252345"/>
            <a:ext cx="1415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知识库应用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7696835" y="2271395"/>
            <a:ext cx="1614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安全信息管理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4" name="文本框 53"/>
          <p:cNvSpPr txBox="1"/>
          <p:nvPr/>
        </p:nvSpPr>
        <p:spPr>
          <a:xfrm>
            <a:off x="9610725" y="2271395"/>
            <a:ext cx="2049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双重预防机制管理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858770" y="2143125"/>
            <a:ext cx="1412240" cy="5651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395085" y="3397250"/>
            <a:ext cx="1225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文件管理</a:t>
            </a:r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4636770" y="3397250"/>
            <a:ext cx="175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人员信息管理</a:t>
            </a:r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886065" y="339217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模型管理</a:t>
            </a:r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9533255" y="3375025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权限管理</a:t>
            </a:r>
            <a:endParaRPr lang="zh-CN" altLang="en-US"/>
          </a:p>
        </p:txBody>
      </p:sp>
      <p:sp>
        <p:nvSpPr>
          <p:cNvPr id="66" name="圆角矩形 65"/>
          <p:cNvSpPr/>
          <p:nvPr/>
        </p:nvSpPr>
        <p:spPr>
          <a:xfrm>
            <a:off x="2870200" y="1089025"/>
            <a:ext cx="882777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326765" y="119824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Vue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0" name="文本框 69"/>
          <p:cNvSpPr txBox="1"/>
          <p:nvPr/>
        </p:nvSpPr>
        <p:spPr>
          <a:xfrm>
            <a:off x="4663440" y="1171575"/>
            <a:ext cx="173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Syncplant-Web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6922135" y="118364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Echarts</a:t>
            </a:r>
            <a:endParaRPr lang="en-US" altLang="zh-CN"/>
          </a:p>
        </p:txBody>
      </p:sp>
      <p:sp>
        <p:nvSpPr>
          <p:cNvPr id="72" name="文本框 71"/>
          <p:cNvSpPr txBox="1"/>
          <p:nvPr/>
        </p:nvSpPr>
        <p:spPr>
          <a:xfrm>
            <a:off x="8493125" y="1171575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Vue-pdf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10136505" y="117856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Axios</a:t>
            </a:r>
            <a:endParaRPr lang="en-US" altLang="zh-CN"/>
          </a:p>
        </p:txBody>
      </p:sp>
      <p:sp>
        <p:nvSpPr>
          <p:cNvPr id="74" name="上箭头 73"/>
          <p:cNvSpPr/>
          <p:nvPr/>
        </p:nvSpPr>
        <p:spPr>
          <a:xfrm>
            <a:off x="3435350" y="17208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上箭头 74"/>
          <p:cNvSpPr/>
          <p:nvPr/>
        </p:nvSpPr>
        <p:spPr>
          <a:xfrm>
            <a:off x="5045710" y="173037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上箭头 75"/>
          <p:cNvSpPr/>
          <p:nvPr/>
        </p:nvSpPr>
        <p:spPr>
          <a:xfrm>
            <a:off x="8458200" y="173672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上箭头 76"/>
          <p:cNvSpPr/>
          <p:nvPr/>
        </p:nvSpPr>
        <p:spPr>
          <a:xfrm>
            <a:off x="10471150" y="176720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上箭头 77"/>
          <p:cNvSpPr/>
          <p:nvPr/>
        </p:nvSpPr>
        <p:spPr>
          <a:xfrm>
            <a:off x="3359150" y="273113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上箭头 78"/>
          <p:cNvSpPr/>
          <p:nvPr/>
        </p:nvSpPr>
        <p:spPr>
          <a:xfrm>
            <a:off x="5029835" y="27622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上箭头 79"/>
          <p:cNvSpPr/>
          <p:nvPr/>
        </p:nvSpPr>
        <p:spPr>
          <a:xfrm>
            <a:off x="8444230" y="27622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上箭头 80"/>
          <p:cNvSpPr/>
          <p:nvPr/>
        </p:nvSpPr>
        <p:spPr>
          <a:xfrm>
            <a:off x="10471150" y="27622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7021830" y="386842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上箭头 82"/>
          <p:cNvSpPr/>
          <p:nvPr/>
        </p:nvSpPr>
        <p:spPr>
          <a:xfrm>
            <a:off x="323850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/>
        </p:nvSpPr>
        <p:spPr>
          <a:xfrm>
            <a:off x="469519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/>
        </p:nvSpPr>
        <p:spPr>
          <a:xfrm>
            <a:off x="6114415" y="474218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746365" y="47498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上箭头 86"/>
          <p:cNvSpPr/>
          <p:nvPr/>
        </p:nvSpPr>
        <p:spPr>
          <a:xfrm>
            <a:off x="927735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上箭头 87"/>
          <p:cNvSpPr/>
          <p:nvPr/>
        </p:nvSpPr>
        <p:spPr>
          <a:xfrm>
            <a:off x="10758805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4474845" y="2154555"/>
            <a:ext cx="138176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7682865" y="2177415"/>
            <a:ext cx="161544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圆角矩形 90"/>
          <p:cNvSpPr/>
          <p:nvPr/>
        </p:nvSpPr>
        <p:spPr>
          <a:xfrm>
            <a:off x="9525000" y="2177415"/>
            <a:ext cx="218376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68320" y="3387725"/>
            <a:ext cx="138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数据源管理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68695" y="2255520"/>
            <a:ext cx="1415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危险源预警</a:t>
            </a:r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6649085" y="17335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>
            <a:off x="6633210" y="276542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078220" y="2157730"/>
            <a:ext cx="138176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33120" y="111379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前端层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833120" y="211264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业务层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833120" y="325437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核心层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833120" y="417766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数据层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833120" y="524256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基础服务层</a:t>
            </a:r>
            <a:endParaRPr lang="zh-CN" altLang="en-US"/>
          </a:p>
        </p:txBody>
      </p:sp>
      <p:sp>
        <p:nvSpPr>
          <p:cNvPr id="23" name="圆柱形 22"/>
          <p:cNvSpPr/>
          <p:nvPr/>
        </p:nvSpPr>
        <p:spPr>
          <a:xfrm>
            <a:off x="282702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MYSQL</a:t>
            </a:r>
            <a:endParaRPr lang="en-US" altLang="zh-CN"/>
          </a:p>
        </p:txBody>
      </p:sp>
      <p:sp>
        <p:nvSpPr>
          <p:cNvPr id="25" name="圆柱形 24"/>
          <p:cNvSpPr/>
          <p:nvPr/>
        </p:nvSpPr>
        <p:spPr>
          <a:xfrm>
            <a:off x="427101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Redis</a:t>
            </a:r>
            <a:endParaRPr lang="en-US" altLang="zh-CN"/>
          </a:p>
        </p:txBody>
      </p:sp>
      <p:sp>
        <p:nvSpPr>
          <p:cNvPr id="26" name="圆柱形 25"/>
          <p:cNvSpPr/>
          <p:nvPr/>
        </p:nvSpPr>
        <p:spPr>
          <a:xfrm>
            <a:off x="571500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Minio</a:t>
            </a:r>
            <a:endParaRPr lang="en-US" altLang="zh-CN"/>
          </a:p>
        </p:txBody>
      </p:sp>
      <p:sp>
        <p:nvSpPr>
          <p:cNvPr id="27" name="圆柱形 26"/>
          <p:cNvSpPr/>
          <p:nvPr/>
        </p:nvSpPr>
        <p:spPr>
          <a:xfrm>
            <a:off x="7309485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ElasticSearch</a:t>
            </a:r>
            <a:endParaRPr lang="en-US" altLang="zh-CN"/>
          </a:p>
        </p:txBody>
      </p:sp>
      <p:sp>
        <p:nvSpPr>
          <p:cNvPr id="40" name="立方体 39"/>
          <p:cNvSpPr/>
          <p:nvPr/>
        </p:nvSpPr>
        <p:spPr>
          <a:xfrm>
            <a:off x="8836660" y="5146675"/>
            <a:ext cx="1169035" cy="673100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大模型</a:t>
            </a:r>
            <a:endParaRPr lang="zh-CN" altLang="en-US"/>
          </a:p>
        </p:txBody>
      </p:sp>
      <p:sp>
        <p:nvSpPr>
          <p:cNvPr id="41" name="立方体 40"/>
          <p:cNvSpPr/>
          <p:nvPr/>
        </p:nvSpPr>
        <p:spPr>
          <a:xfrm>
            <a:off x="10270490" y="5147310"/>
            <a:ext cx="1264285" cy="661035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向量模型</a:t>
            </a:r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2816225" y="3268980"/>
            <a:ext cx="8881745" cy="5994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903855" y="426783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PyMySQL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4492625" y="4267835"/>
            <a:ext cx="107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redis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5744210" y="429641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minio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7157720" y="4286885"/>
            <a:ext cx="177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elasticsearch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9418320" y="4296410"/>
            <a:ext cx="177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Xinference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9" name="圆角矩形 48"/>
          <p:cNvSpPr/>
          <p:nvPr/>
        </p:nvSpPr>
        <p:spPr>
          <a:xfrm>
            <a:off x="2799080" y="4277360"/>
            <a:ext cx="8899525" cy="4076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114040" y="225234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专家库对话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4941570" y="225234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知识库应用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6821805" y="2271395"/>
            <a:ext cx="1125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铁前管理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4" name="文本框 53"/>
          <p:cNvSpPr txBox="1"/>
          <p:nvPr/>
        </p:nvSpPr>
        <p:spPr>
          <a:xfrm>
            <a:off x="8384540" y="2252345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轧钢管理</a:t>
            </a:r>
            <a:endParaRPr lang="en-US" altLang="zh-CN"/>
          </a:p>
        </p:txBody>
      </p:sp>
      <p:sp>
        <p:nvSpPr>
          <p:cNvPr id="55" name="圆角矩形 54"/>
          <p:cNvSpPr/>
          <p:nvPr/>
        </p:nvSpPr>
        <p:spPr>
          <a:xfrm>
            <a:off x="2925445" y="2143125"/>
            <a:ext cx="159448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395085" y="3397250"/>
            <a:ext cx="1225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文件管理</a:t>
            </a:r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4636770" y="3397250"/>
            <a:ext cx="175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自动读数管理</a:t>
            </a:r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886065" y="339217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模型管理</a:t>
            </a:r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9533255" y="3375025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权限管理</a:t>
            </a:r>
            <a:endParaRPr lang="zh-CN" altLang="en-US"/>
          </a:p>
        </p:txBody>
      </p:sp>
      <p:sp>
        <p:nvSpPr>
          <p:cNvPr id="66" name="圆角矩形 65"/>
          <p:cNvSpPr/>
          <p:nvPr/>
        </p:nvSpPr>
        <p:spPr>
          <a:xfrm>
            <a:off x="2870200" y="1089025"/>
            <a:ext cx="882777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326765" y="119824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Vue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0" name="文本框 69"/>
          <p:cNvSpPr txBox="1"/>
          <p:nvPr/>
        </p:nvSpPr>
        <p:spPr>
          <a:xfrm>
            <a:off x="4663440" y="1171575"/>
            <a:ext cx="173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Syncplant-Web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6922135" y="118364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Echarts</a:t>
            </a:r>
            <a:endParaRPr lang="en-US" altLang="zh-CN"/>
          </a:p>
        </p:txBody>
      </p:sp>
      <p:sp>
        <p:nvSpPr>
          <p:cNvPr id="72" name="文本框 71"/>
          <p:cNvSpPr txBox="1"/>
          <p:nvPr/>
        </p:nvSpPr>
        <p:spPr>
          <a:xfrm>
            <a:off x="8493125" y="1171575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Vue-pdf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10136505" y="117856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Axios</a:t>
            </a:r>
            <a:endParaRPr lang="en-US" altLang="zh-CN"/>
          </a:p>
        </p:txBody>
      </p:sp>
      <p:sp>
        <p:nvSpPr>
          <p:cNvPr id="74" name="上箭头 73"/>
          <p:cNvSpPr/>
          <p:nvPr/>
        </p:nvSpPr>
        <p:spPr>
          <a:xfrm>
            <a:off x="3651250" y="16992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上箭头 74"/>
          <p:cNvSpPr/>
          <p:nvPr/>
        </p:nvSpPr>
        <p:spPr>
          <a:xfrm>
            <a:off x="5579110" y="173037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上箭头 75"/>
          <p:cNvSpPr/>
          <p:nvPr/>
        </p:nvSpPr>
        <p:spPr>
          <a:xfrm>
            <a:off x="7280275" y="170053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上箭头 76"/>
          <p:cNvSpPr/>
          <p:nvPr/>
        </p:nvSpPr>
        <p:spPr>
          <a:xfrm>
            <a:off x="8843010" y="170497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上箭头 77"/>
          <p:cNvSpPr/>
          <p:nvPr/>
        </p:nvSpPr>
        <p:spPr>
          <a:xfrm>
            <a:off x="3606800" y="273113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上箭头 78"/>
          <p:cNvSpPr/>
          <p:nvPr/>
        </p:nvSpPr>
        <p:spPr>
          <a:xfrm>
            <a:off x="5534660" y="27622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上箭头 79"/>
          <p:cNvSpPr/>
          <p:nvPr/>
        </p:nvSpPr>
        <p:spPr>
          <a:xfrm>
            <a:off x="7261225" y="27622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上箭头 80"/>
          <p:cNvSpPr/>
          <p:nvPr/>
        </p:nvSpPr>
        <p:spPr>
          <a:xfrm>
            <a:off x="8834755" y="273685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7021830" y="386842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上箭头 82"/>
          <p:cNvSpPr/>
          <p:nvPr/>
        </p:nvSpPr>
        <p:spPr>
          <a:xfrm>
            <a:off x="323850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/>
        </p:nvSpPr>
        <p:spPr>
          <a:xfrm>
            <a:off x="469519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/>
        </p:nvSpPr>
        <p:spPr>
          <a:xfrm>
            <a:off x="6114415" y="474218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746365" y="47498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上箭头 86"/>
          <p:cNvSpPr/>
          <p:nvPr/>
        </p:nvSpPr>
        <p:spPr>
          <a:xfrm>
            <a:off x="927735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上箭头 87"/>
          <p:cNvSpPr/>
          <p:nvPr/>
        </p:nvSpPr>
        <p:spPr>
          <a:xfrm>
            <a:off x="10758805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4855845" y="2183130"/>
            <a:ext cx="159448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6699885" y="2177415"/>
            <a:ext cx="136969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圆角矩形 90"/>
          <p:cNvSpPr/>
          <p:nvPr/>
        </p:nvSpPr>
        <p:spPr>
          <a:xfrm>
            <a:off x="8298180" y="2177415"/>
            <a:ext cx="136969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68320" y="3387725"/>
            <a:ext cx="138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数据源管理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0023475" y="2152650"/>
            <a:ext cx="136969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10570210" y="275272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上箭头 7"/>
          <p:cNvSpPr/>
          <p:nvPr/>
        </p:nvSpPr>
        <p:spPr>
          <a:xfrm>
            <a:off x="10560685" y="17272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136505" y="2252345"/>
            <a:ext cx="1244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炼钢管理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40400" y="6545891"/>
            <a:ext cx="480000" cy="246221"/>
          </a:xfrm>
        </p:spPr>
        <p:txBody>
          <a:bodyPr wrap="square" lIns="91440" tIns="45720" rIns="91440" bIns="45720" anchor="ctr">
            <a:spAutoFit/>
          </a:bodyPr>
          <a:lstStyle>
            <a:lvl1pPr marL="0" lvl="0" indent="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4505" lvl="1" indent="-2730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70280" lvl="2" indent="-5588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454150" lvl="3" indent="-8255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939925" lvl="4" indent="-11112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9A0DB2DC-4C9A-4742-B13C-FB6460FD3503}" type="slidenum"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</a:fld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5" name="组合 48"/>
          <p:cNvGrpSpPr/>
          <p:nvPr/>
        </p:nvGrpSpPr>
        <p:grpSpPr>
          <a:xfrm>
            <a:off x="3175" y="847781"/>
            <a:ext cx="12202795" cy="88845"/>
            <a:chOff x="0" y="727587"/>
            <a:chExt cx="9144000" cy="88901"/>
          </a:xfrm>
        </p:grpSpPr>
        <p:sp>
          <p:nvSpPr>
            <p:cNvPr id="6" name="直接连接符 3"/>
            <p:cNvSpPr/>
            <p:nvPr/>
          </p:nvSpPr>
          <p:spPr>
            <a:xfrm>
              <a:off x="0" y="727587"/>
              <a:ext cx="6115050" cy="1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" name="直接连接符 4"/>
            <p:cNvSpPr/>
            <p:nvPr/>
          </p:nvSpPr>
          <p:spPr>
            <a:xfrm>
              <a:off x="3805238" y="816487"/>
              <a:ext cx="5338762" cy="1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标题 5"/>
          <p:cNvSpPr/>
          <p:nvPr/>
        </p:nvSpPr>
        <p:spPr>
          <a:xfrm>
            <a:off x="240928" y="120650"/>
            <a:ext cx="8973997" cy="620325"/>
          </a:xfrm>
          <a:prstGeom prst="rect">
            <a:avLst/>
          </a:prstGeom>
          <a:noFill/>
          <a:ln w="9525">
            <a:noFill/>
          </a:ln>
        </p:spPr>
        <p:txBody>
          <a:bodyPr bIns="0" anchor="b"/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charset="-122"/>
                <a:sym typeface="Arial" panose="020B0604020202020204" pitchFamily="34" charset="0"/>
              </a:rPr>
              <a:t>1.3 </a:t>
            </a:r>
            <a:r>
              <a:rPr lang="zh-CN" altLang="en-US" sz="2800" b="1" dirty="0">
                <a:latin typeface="Arial Black" panose="020B0A04020102020204" pitchFamily="34" charset="0"/>
                <a:ea typeface="微软雅黑" panose="020B0503020204020204" charset="-122"/>
                <a:sym typeface="Arial" panose="020B0604020202020204" pitchFamily="34" charset="0"/>
              </a:rPr>
              <a:t>原系统架构</a:t>
            </a:r>
            <a:endParaRPr lang="zh-CN" altLang="en-US" sz="2800" b="1" dirty="0">
              <a:solidFill>
                <a:srgbClr val="00B0F0"/>
              </a:solidFill>
              <a:latin typeface="Arial Black" panose="020B0A040201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圆柱形 7"/>
          <p:cNvSpPr/>
          <p:nvPr/>
        </p:nvSpPr>
        <p:spPr>
          <a:xfrm>
            <a:off x="1515745" y="1729740"/>
            <a:ext cx="835025" cy="591820"/>
          </a:xfrm>
          <a:prstGeom prst="ca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私有知识库</a:t>
            </a:r>
            <a:endParaRPr lang="zh-CN" altLang="en-US" sz="1200"/>
          </a:p>
        </p:txBody>
      </p:sp>
      <p:sp>
        <p:nvSpPr>
          <p:cNvPr id="9" name="矩形 8"/>
          <p:cNvSpPr/>
          <p:nvPr/>
        </p:nvSpPr>
        <p:spPr>
          <a:xfrm>
            <a:off x="3150235" y="1827530"/>
            <a:ext cx="1151890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不同文件读取</a:t>
            </a:r>
            <a:endParaRPr lang="zh-CN" altLang="en-US" sz="1200"/>
          </a:p>
        </p:txBody>
      </p:sp>
      <p:sp>
        <p:nvSpPr>
          <p:cNvPr id="10" name="矩形 9"/>
          <p:cNvSpPr/>
          <p:nvPr/>
        </p:nvSpPr>
        <p:spPr>
          <a:xfrm>
            <a:off x="4671695" y="1827530"/>
            <a:ext cx="1150620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不同文件解析</a:t>
            </a:r>
            <a:endParaRPr lang="zh-CN" altLang="en-US" sz="1200"/>
          </a:p>
        </p:txBody>
      </p:sp>
      <p:sp>
        <p:nvSpPr>
          <p:cNvPr id="11" name="矩形 10"/>
          <p:cNvSpPr/>
          <p:nvPr/>
        </p:nvSpPr>
        <p:spPr>
          <a:xfrm>
            <a:off x="6191250" y="1827530"/>
            <a:ext cx="1100455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知识切片分块</a:t>
            </a:r>
            <a:endParaRPr lang="zh-CN" altLang="en-US" sz="1200"/>
          </a:p>
        </p:txBody>
      </p:sp>
      <p:sp>
        <p:nvSpPr>
          <p:cNvPr id="12" name="矩形 11"/>
          <p:cNvSpPr/>
          <p:nvPr/>
        </p:nvSpPr>
        <p:spPr>
          <a:xfrm>
            <a:off x="7689850" y="1827530"/>
            <a:ext cx="1010285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文本向量化</a:t>
            </a:r>
            <a:endParaRPr lang="zh-CN" altLang="en-US" sz="1200"/>
          </a:p>
        </p:txBody>
      </p:sp>
      <p:sp>
        <p:nvSpPr>
          <p:cNvPr id="13" name="圆柱形 12"/>
          <p:cNvSpPr/>
          <p:nvPr/>
        </p:nvSpPr>
        <p:spPr>
          <a:xfrm>
            <a:off x="9344025" y="2653030"/>
            <a:ext cx="918210" cy="602615"/>
          </a:xfrm>
          <a:prstGeom prst="ca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数据库</a:t>
            </a:r>
            <a:endParaRPr lang="zh-CN" altLang="en-US" sz="1200"/>
          </a:p>
        </p:txBody>
      </p:sp>
      <p:sp>
        <p:nvSpPr>
          <p:cNvPr id="14" name="矩形 13"/>
          <p:cNvSpPr/>
          <p:nvPr/>
        </p:nvSpPr>
        <p:spPr>
          <a:xfrm>
            <a:off x="3495040" y="38976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用户查询</a:t>
            </a:r>
            <a:endParaRPr lang="zh-CN" altLang="en-US" sz="1200"/>
          </a:p>
        </p:txBody>
      </p:sp>
      <p:sp>
        <p:nvSpPr>
          <p:cNvPr id="15" name="矩形 14"/>
          <p:cNvSpPr/>
          <p:nvPr/>
        </p:nvSpPr>
        <p:spPr>
          <a:xfrm>
            <a:off x="4944745" y="38976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问题重写</a:t>
            </a:r>
            <a:endParaRPr lang="zh-CN" altLang="en-US" sz="1200"/>
          </a:p>
        </p:txBody>
      </p:sp>
      <p:sp>
        <p:nvSpPr>
          <p:cNvPr id="16" name="矩形 15"/>
          <p:cNvSpPr/>
          <p:nvPr/>
        </p:nvSpPr>
        <p:spPr>
          <a:xfrm>
            <a:off x="6394450" y="3897630"/>
            <a:ext cx="121221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FAQ</a:t>
            </a:r>
            <a:r>
              <a:rPr lang="zh-CN" altLang="en-US" sz="1200"/>
              <a:t>问题匹配</a:t>
            </a:r>
            <a:endParaRPr lang="zh-CN" altLang="en-US" sz="1200"/>
          </a:p>
        </p:txBody>
      </p:sp>
      <p:sp>
        <p:nvSpPr>
          <p:cNvPr id="17" name="矩形 16"/>
          <p:cNvSpPr/>
          <p:nvPr/>
        </p:nvSpPr>
        <p:spPr>
          <a:xfrm>
            <a:off x="7893050" y="38976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知识块检索</a:t>
            </a:r>
            <a:endParaRPr lang="zh-CN" altLang="en-US" sz="1200"/>
          </a:p>
        </p:txBody>
      </p:sp>
      <p:sp>
        <p:nvSpPr>
          <p:cNvPr id="18" name="矩形 17"/>
          <p:cNvSpPr/>
          <p:nvPr/>
        </p:nvSpPr>
        <p:spPr>
          <a:xfrm>
            <a:off x="3318510" y="5262880"/>
            <a:ext cx="116141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显示证据原文</a:t>
            </a:r>
            <a:endParaRPr lang="zh-CN" altLang="en-US" sz="1200"/>
          </a:p>
        </p:txBody>
      </p:sp>
      <p:sp>
        <p:nvSpPr>
          <p:cNvPr id="19" name="矩形 18"/>
          <p:cNvSpPr/>
          <p:nvPr/>
        </p:nvSpPr>
        <p:spPr>
          <a:xfrm>
            <a:off x="4919345" y="5262880"/>
            <a:ext cx="101028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提示模板</a:t>
            </a:r>
            <a:endParaRPr lang="zh-CN" altLang="en-US" sz="1200"/>
          </a:p>
        </p:txBody>
      </p:sp>
      <p:sp>
        <p:nvSpPr>
          <p:cNvPr id="20" name="矩形 19"/>
          <p:cNvSpPr/>
          <p:nvPr/>
        </p:nvSpPr>
        <p:spPr>
          <a:xfrm>
            <a:off x="6369050" y="5262880"/>
            <a:ext cx="101028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知识块融合</a:t>
            </a:r>
            <a:endParaRPr lang="zh-CN" sz="1200"/>
          </a:p>
        </p:txBody>
      </p:sp>
      <p:sp>
        <p:nvSpPr>
          <p:cNvPr id="21" name="矩形 20"/>
          <p:cNvSpPr/>
          <p:nvPr/>
        </p:nvSpPr>
        <p:spPr>
          <a:xfrm>
            <a:off x="7893050" y="526288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重排序</a:t>
            </a:r>
            <a:endParaRPr lang="zh-CN" altLang="en-US" sz="1200"/>
          </a:p>
        </p:txBody>
      </p:sp>
      <p:sp>
        <p:nvSpPr>
          <p:cNvPr id="22" name="矩形 21"/>
          <p:cNvSpPr/>
          <p:nvPr/>
        </p:nvSpPr>
        <p:spPr>
          <a:xfrm>
            <a:off x="1268095" y="5262880"/>
            <a:ext cx="101028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流失输出</a:t>
            </a:r>
            <a:endParaRPr lang="zh-CN" altLang="en-US" sz="1200"/>
          </a:p>
        </p:txBody>
      </p:sp>
      <p:cxnSp>
        <p:nvCxnSpPr>
          <p:cNvPr id="23" name="直接箭头连接符 22"/>
          <p:cNvCxnSpPr>
            <a:stCxn id="8" idx="4"/>
            <a:endCxn id="9" idx="1"/>
          </p:cNvCxnSpPr>
          <p:nvPr/>
        </p:nvCxnSpPr>
        <p:spPr>
          <a:xfrm flipV="1">
            <a:off x="2350770" y="2014220"/>
            <a:ext cx="79946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0" idx="1"/>
          </p:cNvCxnSpPr>
          <p:nvPr/>
        </p:nvCxnSpPr>
        <p:spPr>
          <a:xfrm>
            <a:off x="4215130" y="2009140"/>
            <a:ext cx="45656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1" idx="1"/>
          </p:cNvCxnSpPr>
          <p:nvPr/>
        </p:nvCxnSpPr>
        <p:spPr>
          <a:xfrm>
            <a:off x="5759450" y="2009140"/>
            <a:ext cx="43180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12" idx="1"/>
          </p:cNvCxnSpPr>
          <p:nvPr/>
        </p:nvCxnSpPr>
        <p:spPr>
          <a:xfrm flipV="1">
            <a:off x="7204075" y="2014220"/>
            <a:ext cx="485775" cy="15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2" idx="3"/>
            <a:endCxn id="13" idx="1"/>
          </p:cNvCxnSpPr>
          <p:nvPr/>
        </p:nvCxnSpPr>
        <p:spPr>
          <a:xfrm>
            <a:off x="8700135" y="2014220"/>
            <a:ext cx="1102995" cy="6388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59035" y="2211070"/>
            <a:ext cx="641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存储</a:t>
            </a:r>
            <a:endParaRPr lang="zh-CN" altLang="en-US" sz="1400"/>
          </a:p>
        </p:txBody>
      </p:sp>
      <p:sp>
        <p:nvSpPr>
          <p:cNvPr id="29" name="文本框 28"/>
          <p:cNvSpPr txBox="1"/>
          <p:nvPr/>
        </p:nvSpPr>
        <p:spPr>
          <a:xfrm>
            <a:off x="5426075" y="1288415"/>
            <a:ext cx="1669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4874CB"/>
                </a:solidFill>
              </a:rPr>
              <a:t>①创建知识库</a:t>
            </a:r>
            <a:endParaRPr lang="zh-CN" altLang="en-US">
              <a:solidFill>
                <a:srgbClr val="4874CB"/>
              </a:solidFill>
            </a:endParaRPr>
          </a:p>
        </p:txBody>
      </p:sp>
      <p:cxnSp>
        <p:nvCxnSpPr>
          <p:cNvPr id="30" name="肘形连接符 29"/>
          <p:cNvCxnSpPr>
            <a:stCxn id="13" idx="3"/>
            <a:endCxn id="17" idx="3"/>
          </p:cNvCxnSpPr>
          <p:nvPr/>
        </p:nvCxnSpPr>
        <p:spPr>
          <a:xfrm rot="5400000">
            <a:off x="8938895" y="3219450"/>
            <a:ext cx="828675" cy="899795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587740" y="2253615"/>
            <a:ext cx="10160" cy="16363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375" y="3504565"/>
            <a:ext cx="847725" cy="1000125"/>
          </a:xfrm>
          <a:prstGeom prst="rect">
            <a:avLst/>
          </a:prstGeom>
        </p:spPr>
      </p:pic>
      <p:cxnSp>
        <p:nvCxnSpPr>
          <p:cNvPr id="33" name="直接箭头连接符 32"/>
          <p:cNvCxnSpPr>
            <a:stCxn id="17" idx="2"/>
            <a:endCxn id="21" idx="0"/>
          </p:cNvCxnSpPr>
          <p:nvPr/>
        </p:nvCxnSpPr>
        <p:spPr>
          <a:xfrm>
            <a:off x="8398510" y="4271010"/>
            <a:ext cx="0" cy="9918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14" idx="3"/>
            <a:endCxn id="15" idx="1"/>
          </p:cNvCxnSpPr>
          <p:nvPr/>
        </p:nvCxnSpPr>
        <p:spPr>
          <a:xfrm>
            <a:off x="4505325" y="4084320"/>
            <a:ext cx="43942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5" idx="3"/>
            <a:endCxn id="16" idx="1"/>
          </p:cNvCxnSpPr>
          <p:nvPr/>
        </p:nvCxnSpPr>
        <p:spPr>
          <a:xfrm>
            <a:off x="5955030" y="4084320"/>
            <a:ext cx="43942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16" idx="0"/>
          </p:cNvCxnSpPr>
          <p:nvPr/>
        </p:nvCxnSpPr>
        <p:spPr>
          <a:xfrm rot="16200000">
            <a:off x="6762750" y="2519680"/>
            <a:ext cx="1615440" cy="1139825"/>
          </a:xfrm>
          <a:prstGeom prst="bentConnector3">
            <a:avLst>
              <a:gd name="adj1" fmla="val 49980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1" idx="1"/>
            <a:endCxn id="20" idx="3"/>
          </p:cNvCxnSpPr>
          <p:nvPr/>
        </p:nvCxnSpPr>
        <p:spPr>
          <a:xfrm flipH="1">
            <a:off x="7379335" y="5449570"/>
            <a:ext cx="513715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0" idx="1"/>
            <a:endCxn id="19" idx="3"/>
          </p:cNvCxnSpPr>
          <p:nvPr/>
        </p:nvCxnSpPr>
        <p:spPr>
          <a:xfrm flipH="1">
            <a:off x="5929630" y="5449570"/>
            <a:ext cx="439420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9" idx="1"/>
            <a:endCxn id="18" idx="3"/>
          </p:cNvCxnSpPr>
          <p:nvPr/>
        </p:nvCxnSpPr>
        <p:spPr>
          <a:xfrm flipH="1">
            <a:off x="4479925" y="5449570"/>
            <a:ext cx="439420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8" idx="1"/>
            <a:endCxn id="22" idx="3"/>
          </p:cNvCxnSpPr>
          <p:nvPr/>
        </p:nvCxnSpPr>
        <p:spPr>
          <a:xfrm flipH="1">
            <a:off x="2278380" y="5449570"/>
            <a:ext cx="1040130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2" idx="0"/>
          </p:cNvCxnSpPr>
          <p:nvPr/>
        </p:nvCxnSpPr>
        <p:spPr>
          <a:xfrm flipH="1" flipV="1">
            <a:off x="1767205" y="4626610"/>
            <a:ext cx="6350" cy="63627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4" idx="1"/>
          </p:cNvCxnSpPr>
          <p:nvPr/>
        </p:nvCxnSpPr>
        <p:spPr>
          <a:xfrm flipV="1">
            <a:off x="2787650" y="4084320"/>
            <a:ext cx="707390" cy="6985"/>
          </a:xfrm>
          <a:prstGeom prst="straightConnector1">
            <a:avLst/>
          </a:prstGeom>
          <a:ln>
            <a:solidFill>
              <a:srgbClr val="B145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767205" y="2887345"/>
            <a:ext cx="2534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B14501"/>
                </a:solidFill>
              </a:rPr>
              <a:t>②用户提问和知识检索</a:t>
            </a:r>
            <a:endParaRPr lang="zh-CN" altLang="en-US">
              <a:solidFill>
                <a:srgbClr val="B1450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98035" y="6059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708441"/>
                </a:solidFill>
              </a:rPr>
              <a:t>③调用大模型生成答案</a:t>
            </a:r>
            <a:endParaRPr lang="zh-CN" altLang="en-US">
              <a:solidFill>
                <a:srgbClr val="70844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169525" y="3667125"/>
            <a:ext cx="8432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检索</a:t>
            </a:r>
            <a:endParaRPr lang="zh-CN" altLang="en-US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43495" y="2416175"/>
            <a:ext cx="4026535" cy="3548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  <a:sym typeface="+mn-ea"/>
              </a:rPr>
              <a:t>外部客户的</a:t>
            </a:r>
            <a:endParaRPr lang="zh-CN" sz="1400">
              <a:solidFill>
                <a:schemeClr val="tx1"/>
              </a:solidFill>
            </a:endParaRPr>
          </a:p>
          <a:p>
            <a:pPr algn="ctr"/>
            <a:r>
              <a:rPr lang="zh-CN" sz="1400">
                <a:solidFill>
                  <a:schemeClr val="tx1"/>
                </a:solidFill>
                <a:sym typeface="+mn-ea"/>
              </a:rPr>
              <a:t>智能问答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系统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49895" y="3057525"/>
            <a:ext cx="3222625" cy="254000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39875" y="2416175"/>
            <a:ext cx="4670425" cy="354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7955" y="3091815"/>
            <a:ext cx="1972945" cy="254381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34185" y="3086735"/>
            <a:ext cx="1922780" cy="255143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06270" y="3708400"/>
            <a:ext cx="323850" cy="889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在线文档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37800" y="3667125"/>
            <a:ext cx="737235" cy="7861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开发官网智能问答集成页面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364345" y="3686810"/>
            <a:ext cx="696595" cy="7664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开发官网智能问答接口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44865" y="3674110"/>
            <a:ext cx="642620" cy="7988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官网文档权限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70350" y="3820160"/>
            <a:ext cx="36703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文档权限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46935" y="3232785"/>
            <a:ext cx="14541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000">
                <a:sym typeface="+mn-ea"/>
              </a:rPr>
              <a:t>公司产品在线文档平台</a:t>
            </a:r>
            <a:endParaRPr lang="zh-CN" altLang="en-US" sz="1000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418330" y="3252470"/>
            <a:ext cx="135445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000">
                <a:sym typeface="+mn-ea"/>
              </a:rPr>
              <a:t>企业微信智能助手</a:t>
            </a:r>
            <a:endParaRPr lang="zh-CN" altLang="en-US" sz="1000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80945" y="3717925"/>
            <a:ext cx="340360" cy="889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知识库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72130" y="3717925"/>
            <a:ext cx="340360" cy="889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应用助手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17700" y="4676775"/>
            <a:ext cx="323850" cy="889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文档修改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71420" y="4676775"/>
            <a:ext cx="323850" cy="889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文档解析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72765" y="4676775"/>
            <a:ext cx="323850" cy="889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.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.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.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64380" y="3820160"/>
            <a:ext cx="541020" cy="7664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开发企业微信接口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79695" y="3813175"/>
            <a:ext cx="541020" cy="7664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开发企微</a:t>
            </a:r>
            <a:r>
              <a:rPr lang="en-US" altLang="zh-CN" sz="1000">
                <a:solidFill>
                  <a:schemeClr val="tx1"/>
                </a:solidFill>
              </a:rPr>
              <a:t>PC</a:t>
            </a:r>
            <a:r>
              <a:rPr lang="zh-CN" altLang="en-US" sz="1000">
                <a:solidFill>
                  <a:schemeClr val="tx1"/>
                </a:solidFill>
              </a:rPr>
              <a:t>端接口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156075" y="4794250"/>
            <a:ext cx="541020" cy="7664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开发企微移动端接口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823460" y="4794250"/>
            <a:ext cx="541020" cy="7664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企业微信测试与修改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260840" y="3201670"/>
            <a:ext cx="118491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官网智能助手</a:t>
            </a:r>
            <a:endParaRPr lang="zh-CN" altLang="en-US" sz="1200"/>
          </a:p>
        </p:txBody>
      </p:sp>
      <p:sp>
        <p:nvSpPr>
          <p:cNvPr id="42" name="矩形 41"/>
          <p:cNvSpPr/>
          <p:nvPr/>
        </p:nvSpPr>
        <p:spPr>
          <a:xfrm>
            <a:off x="8445500" y="4669790"/>
            <a:ext cx="697230" cy="844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开发文档下载注册功能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363710" y="4669790"/>
            <a:ext cx="697230" cy="844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构建知识库及应用助手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375265" y="4645025"/>
            <a:ext cx="697230" cy="844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文档修改及调整解析策略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90" name="图片 89" descr="unnam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4790" y="3209290"/>
            <a:ext cx="402590" cy="402590"/>
          </a:xfrm>
          <a:prstGeom prst="rect">
            <a:avLst/>
          </a:prstGeom>
        </p:spPr>
      </p:pic>
      <p:pic>
        <p:nvPicPr>
          <p:cNvPr id="45" name="图片 44" descr="下载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10" y="3180715"/>
            <a:ext cx="393065" cy="393065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1906270" y="2548890"/>
            <a:ext cx="38855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>
                <a:sym typeface="+mn-ea"/>
              </a:rPr>
              <a:t>公司员工的智能问答</a:t>
            </a:r>
            <a:r>
              <a:rPr lang="zh-CN" altLang="en-US">
                <a:sym typeface="+mn-ea"/>
              </a:rPr>
              <a:t>系统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7715250" y="2454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>
                <a:sym typeface="+mn-ea"/>
              </a:rPr>
              <a:t>外部客户的智能问答</a:t>
            </a:r>
            <a:r>
              <a:rPr lang="zh-CN" altLang="en-US">
                <a:sym typeface="+mn-ea"/>
              </a:rPr>
              <a:t>系统</a:t>
            </a:r>
            <a:endParaRPr lang="zh-CN" altLang="en-US"/>
          </a:p>
        </p:txBody>
      </p:sp>
      <p:pic>
        <p:nvPicPr>
          <p:cNvPr id="50" name="图片 49" descr="下载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90" y="3114675"/>
            <a:ext cx="406400" cy="40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44855" y="4057015"/>
            <a:ext cx="744855" cy="245110"/>
          </a:xfrm>
        </p:spPr>
        <p:txBody>
          <a:bodyPr wrap="square" lIns="91440" tIns="45720" rIns="91440" bIns="45720" anchor="ctr">
            <a:spAutoFit/>
          </a:bodyPr>
          <a:lstStyle>
            <a:lvl1pPr marL="0" lvl="0" indent="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4505" lvl="1" indent="-2730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70280" lvl="2" indent="-5588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454150" lvl="3" indent="-8255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939925" lvl="4" indent="-11112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  <a:t>公司员工</a:t>
            </a:r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5" name="组合 48"/>
          <p:cNvGrpSpPr/>
          <p:nvPr/>
        </p:nvGrpSpPr>
        <p:grpSpPr>
          <a:xfrm>
            <a:off x="3175" y="847781"/>
            <a:ext cx="12202795" cy="88845"/>
            <a:chOff x="0" y="727587"/>
            <a:chExt cx="9144000" cy="88901"/>
          </a:xfrm>
        </p:grpSpPr>
        <p:sp>
          <p:nvSpPr>
            <p:cNvPr id="6" name="直接连接符 3"/>
            <p:cNvSpPr/>
            <p:nvPr/>
          </p:nvSpPr>
          <p:spPr>
            <a:xfrm>
              <a:off x="0" y="727587"/>
              <a:ext cx="6115050" cy="1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" name="直接连接符 4"/>
            <p:cNvSpPr/>
            <p:nvPr/>
          </p:nvSpPr>
          <p:spPr>
            <a:xfrm>
              <a:off x="3805238" y="816487"/>
              <a:ext cx="5338762" cy="1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标题 5"/>
          <p:cNvSpPr/>
          <p:nvPr/>
        </p:nvSpPr>
        <p:spPr>
          <a:xfrm>
            <a:off x="240928" y="120650"/>
            <a:ext cx="8973997" cy="620325"/>
          </a:xfrm>
          <a:prstGeom prst="rect">
            <a:avLst/>
          </a:prstGeom>
          <a:noFill/>
          <a:ln w="9525">
            <a:noFill/>
          </a:ln>
        </p:spPr>
        <p:txBody>
          <a:bodyPr bIns="0" anchor="b"/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charset="-122"/>
                <a:sym typeface="Arial" panose="020B0604020202020204" pitchFamily="34" charset="0"/>
              </a:rPr>
              <a:t>1.3 </a:t>
            </a:r>
            <a:r>
              <a:rPr lang="zh-CN" altLang="en-US" sz="2800" b="1" dirty="0">
                <a:latin typeface="Arial Black" panose="020B0A04020102020204" pitchFamily="34" charset="0"/>
                <a:ea typeface="微软雅黑" panose="020B0503020204020204" charset="-122"/>
                <a:sym typeface="Arial" panose="020B0604020202020204" pitchFamily="34" charset="0"/>
              </a:rPr>
              <a:t>原系统架构</a:t>
            </a:r>
            <a:endParaRPr lang="zh-CN" altLang="en-US" sz="2800" b="1" dirty="0">
              <a:solidFill>
                <a:srgbClr val="00B0F0"/>
              </a:solidFill>
              <a:latin typeface="Arial Black" panose="020B0A040201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圆柱形 7"/>
          <p:cNvSpPr/>
          <p:nvPr/>
        </p:nvSpPr>
        <p:spPr>
          <a:xfrm>
            <a:off x="3285490" y="1605915"/>
            <a:ext cx="835025" cy="591820"/>
          </a:xfrm>
          <a:prstGeom prst="ca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私有知识库</a:t>
            </a:r>
            <a:endParaRPr lang="zh-CN" altLang="en-US" sz="1200"/>
          </a:p>
        </p:txBody>
      </p:sp>
      <p:sp>
        <p:nvSpPr>
          <p:cNvPr id="9" name="矩形 8"/>
          <p:cNvSpPr/>
          <p:nvPr/>
        </p:nvSpPr>
        <p:spPr>
          <a:xfrm>
            <a:off x="4700905" y="1703705"/>
            <a:ext cx="1151890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不同文件读取</a:t>
            </a:r>
            <a:endParaRPr lang="zh-CN" altLang="en-US" sz="1200"/>
          </a:p>
        </p:txBody>
      </p:sp>
      <p:sp>
        <p:nvSpPr>
          <p:cNvPr id="10" name="矩形 9"/>
          <p:cNvSpPr/>
          <p:nvPr/>
        </p:nvSpPr>
        <p:spPr>
          <a:xfrm>
            <a:off x="6222365" y="1703705"/>
            <a:ext cx="1150620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不同文件解析</a:t>
            </a:r>
            <a:endParaRPr lang="zh-CN" altLang="en-US" sz="1200"/>
          </a:p>
        </p:txBody>
      </p:sp>
      <p:sp>
        <p:nvSpPr>
          <p:cNvPr id="11" name="矩形 10"/>
          <p:cNvSpPr/>
          <p:nvPr/>
        </p:nvSpPr>
        <p:spPr>
          <a:xfrm>
            <a:off x="7741920" y="1703705"/>
            <a:ext cx="1100455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知识切片分块</a:t>
            </a:r>
            <a:endParaRPr lang="zh-CN" altLang="en-US" sz="1200"/>
          </a:p>
        </p:txBody>
      </p:sp>
      <p:sp>
        <p:nvSpPr>
          <p:cNvPr id="12" name="矩形 11"/>
          <p:cNvSpPr/>
          <p:nvPr/>
        </p:nvSpPr>
        <p:spPr>
          <a:xfrm>
            <a:off x="9269095" y="1703705"/>
            <a:ext cx="1010285" cy="3733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文本向量化</a:t>
            </a:r>
            <a:endParaRPr lang="zh-CN" altLang="en-US" sz="1200"/>
          </a:p>
        </p:txBody>
      </p:sp>
      <p:sp>
        <p:nvSpPr>
          <p:cNvPr id="13" name="圆柱形 12"/>
          <p:cNvSpPr/>
          <p:nvPr/>
        </p:nvSpPr>
        <p:spPr>
          <a:xfrm>
            <a:off x="10894695" y="2357755"/>
            <a:ext cx="918210" cy="602615"/>
          </a:xfrm>
          <a:prstGeom prst="ca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数据库</a:t>
            </a:r>
            <a:endParaRPr lang="zh-CN" altLang="en-US" sz="1200"/>
          </a:p>
        </p:txBody>
      </p:sp>
      <p:sp>
        <p:nvSpPr>
          <p:cNvPr id="14" name="矩形 13"/>
          <p:cNvSpPr/>
          <p:nvPr/>
        </p:nvSpPr>
        <p:spPr>
          <a:xfrm>
            <a:off x="5398135" y="40119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用户查询</a:t>
            </a:r>
            <a:endParaRPr lang="zh-CN" altLang="en-US" sz="1200"/>
          </a:p>
        </p:txBody>
      </p:sp>
      <p:sp>
        <p:nvSpPr>
          <p:cNvPr id="15" name="矩形 14"/>
          <p:cNvSpPr/>
          <p:nvPr/>
        </p:nvSpPr>
        <p:spPr>
          <a:xfrm>
            <a:off x="6847840" y="40119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问题重写</a:t>
            </a:r>
            <a:endParaRPr lang="zh-CN" altLang="en-US" sz="1200"/>
          </a:p>
        </p:txBody>
      </p:sp>
      <p:sp>
        <p:nvSpPr>
          <p:cNvPr id="16" name="矩形 15"/>
          <p:cNvSpPr/>
          <p:nvPr/>
        </p:nvSpPr>
        <p:spPr>
          <a:xfrm>
            <a:off x="8297545" y="4011930"/>
            <a:ext cx="121221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FAQ</a:t>
            </a:r>
            <a:r>
              <a:rPr lang="zh-CN" altLang="en-US" sz="1200"/>
              <a:t>问题匹配</a:t>
            </a:r>
            <a:endParaRPr lang="zh-CN" altLang="en-US" sz="1200"/>
          </a:p>
        </p:txBody>
      </p:sp>
      <p:sp>
        <p:nvSpPr>
          <p:cNvPr id="17" name="矩形 16"/>
          <p:cNvSpPr/>
          <p:nvPr/>
        </p:nvSpPr>
        <p:spPr>
          <a:xfrm>
            <a:off x="9643745" y="40119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知识块检索</a:t>
            </a:r>
            <a:endParaRPr lang="zh-CN" altLang="en-US" sz="1200"/>
          </a:p>
        </p:txBody>
      </p:sp>
      <p:sp>
        <p:nvSpPr>
          <p:cNvPr id="18" name="矩形 17"/>
          <p:cNvSpPr/>
          <p:nvPr/>
        </p:nvSpPr>
        <p:spPr>
          <a:xfrm>
            <a:off x="4916805" y="5891530"/>
            <a:ext cx="116141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显示证据原文</a:t>
            </a:r>
            <a:endParaRPr lang="zh-CN" altLang="en-US" sz="1200"/>
          </a:p>
        </p:txBody>
      </p:sp>
      <p:sp>
        <p:nvSpPr>
          <p:cNvPr id="19" name="矩形 18"/>
          <p:cNvSpPr/>
          <p:nvPr/>
        </p:nvSpPr>
        <p:spPr>
          <a:xfrm>
            <a:off x="6517640" y="5891530"/>
            <a:ext cx="101028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提示模板</a:t>
            </a:r>
            <a:endParaRPr lang="zh-CN" altLang="en-US" sz="1200"/>
          </a:p>
        </p:txBody>
      </p:sp>
      <p:sp>
        <p:nvSpPr>
          <p:cNvPr id="20" name="矩形 19"/>
          <p:cNvSpPr/>
          <p:nvPr/>
        </p:nvSpPr>
        <p:spPr>
          <a:xfrm>
            <a:off x="7967345" y="5891530"/>
            <a:ext cx="101028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/>
              <a:t>知识块融合</a:t>
            </a:r>
            <a:endParaRPr lang="zh-CN" sz="1200"/>
          </a:p>
        </p:txBody>
      </p:sp>
      <p:sp>
        <p:nvSpPr>
          <p:cNvPr id="21" name="矩形 20"/>
          <p:cNvSpPr/>
          <p:nvPr/>
        </p:nvSpPr>
        <p:spPr>
          <a:xfrm>
            <a:off x="9643745" y="5891530"/>
            <a:ext cx="1010285" cy="373380"/>
          </a:xfrm>
          <a:prstGeom prst="rect">
            <a:avLst/>
          </a:prstGeom>
          <a:solidFill>
            <a:srgbClr val="B145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重排序</a:t>
            </a:r>
            <a:endParaRPr lang="zh-CN" altLang="en-US" sz="1200"/>
          </a:p>
        </p:txBody>
      </p:sp>
      <p:sp>
        <p:nvSpPr>
          <p:cNvPr id="22" name="矩形 21"/>
          <p:cNvSpPr/>
          <p:nvPr/>
        </p:nvSpPr>
        <p:spPr>
          <a:xfrm>
            <a:off x="2994025" y="5891530"/>
            <a:ext cx="1010285" cy="373380"/>
          </a:xfrm>
          <a:prstGeom prst="rect">
            <a:avLst/>
          </a:prstGeom>
          <a:solidFill>
            <a:srgbClr val="7084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流失输出</a:t>
            </a:r>
            <a:endParaRPr lang="zh-CN" altLang="en-US" sz="1200"/>
          </a:p>
        </p:txBody>
      </p:sp>
      <p:cxnSp>
        <p:nvCxnSpPr>
          <p:cNvPr id="23" name="直接箭头连接符 22"/>
          <p:cNvCxnSpPr>
            <a:stCxn id="8" idx="4"/>
            <a:endCxn id="9" idx="1"/>
          </p:cNvCxnSpPr>
          <p:nvPr/>
        </p:nvCxnSpPr>
        <p:spPr>
          <a:xfrm flipV="1">
            <a:off x="4120515" y="1890395"/>
            <a:ext cx="58039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0" idx="1"/>
          </p:cNvCxnSpPr>
          <p:nvPr/>
        </p:nvCxnSpPr>
        <p:spPr>
          <a:xfrm>
            <a:off x="5765800" y="1885315"/>
            <a:ext cx="45656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1" idx="1"/>
          </p:cNvCxnSpPr>
          <p:nvPr/>
        </p:nvCxnSpPr>
        <p:spPr>
          <a:xfrm>
            <a:off x="7310120" y="1885315"/>
            <a:ext cx="43180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12" idx="1"/>
          </p:cNvCxnSpPr>
          <p:nvPr/>
        </p:nvCxnSpPr>
        <p:spPr>
          <a:xfrm flipV="1">
            <a:off x="8783320" y="1890395"/>
            <a:ext cx="485775" cy="15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2" idx="3"/>
            <a:endCxn id="13" idx="1"/>
          </p:cNvCxnSpPr>
          <p:nvPr/>
        </p:nvCxnSpPr>
        <p:spPr>
          <a:xfrm>
            <a:off x="10279380" y="1890395"/>
            <a:ext cx="1074420" cy="46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761345" y="1995170"/>
            <a:ext cx="641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存储</a:t>
            </a:r>
            <a:endParaRPr lang="zh-CN" altLang="en-US" sz="1400"/>
          </a:p>
        </p:txBody>
      </p:sp>
      <p:sp>
        <p:nvSpPr>
          <p:cNvPr id="29" name="文本框 28"/>
          <p:cNvSpPr txBox="1"/>
          <p:nvPr/>
        </p:nvSpPr>
        <p:spPr>
          <a:xfrm>
            <a:off x="4590415" y="1127125"/>
            <a:ext cx="3010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4874CB"/>
                </a:solidFill>
              </a:rPr>
              <a:t>①根据在线文档创建知识库</a:t>
            </a:r>
            <a:endParaRPr lang="zh-CN" altLang="en-US">
              <a:solidFill>
                <a:srgbClr val="4874CB"/>
              </a:solidFill>
            </a:endParaRPr>
          </a:p>
        </p:txBody>
      </p:sp>
      <p:cxnSp>
        <p:nvCxnSpPr>
          <p:cNvPr id="30" name="肘形连接符 29"/>
          <p:cNvCxnSpPr>
            <a:stCxn id="13" idx="3"/>
            <a:endCxn id="17" idx="3"/>
          </p:cNvCxnSpPr>
          <p:nvPr/>
        </p:nvCxnSpPr>
        <p:spPr>
          <a:xfrm rot="5400000">
            <a:off x="10384790" y="3229610"/>
            <a:ext cx="1238250" cy="699770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0151110" y="2079625"/>
            <a:ext cx="7620" cy="193230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" y="3055620"/>
            <a:ext cx="847725" cy="1000125"/>
          </a:xfrm>
          <a:prstGeom prst="rect">
            <a:avLst/>
          </a:prstGeom>
        </p:spPr>
      </p:pic>
      <p:cxnSp>
        <p:nvCxnSpPr>
          <p:cNvPr id="33" name="直接箭头连接符 32"/>
          <p:cNvCxnSpPr>
            <a:stCxn id="17" idx="2"/>
            <a:endCxn id="21" idx="0"/>
          </p:cNvCxnSpPr>
          <p:nvPr/>
        </p:nvCxnSpPr>
        <p:spPr>
          <a:xfrm>
            <a:off x="10149205" y="4385310"/>
            <a:ext cx="0" cy="150622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14" idx="3"/>
            <a:endCxn id="15" idx="1"/>
          </p:cNvCxnSpPr>
          <p:nvPr/>
        </p:nvCxnSpPr>
        <p:spPr>
          <a:xfrm>
            <a:off x="6408420" y="4198620"/>
            <a:ext cx="43942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5" idx="3"/>
            <a:endCxn id="16" idx="1"/>
          </p:cNvCxnSpPr>
          <p:nvPr/>
        </p:nvCxnSpPr>
        <p:spPr>
          <a:xfrm>
            <a:off x="7858125" y="4198620"/>
            <a:ext cx="43942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16" idx="0"/>
            <a:endCxn id="12" idx="2"/>
          </p:cNvCxnSpPr>
          <p:nvPr/>
        </p:nvCxnSpPr>
        <p:spPr>
          <a:xfrm rot="16200000">
            <a:off x="8371840" y="2609215"/>
            <a:ext cx="1934845" cy="870585"/>
          </a:xfrm>
          <a:prstGeom prst="bentConnector3">
            <a:avLst>
              <a:gd name="adj1" fmla="val 49984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1" idx="1"/>
            <a:endCxn id="20" idx="3"/>
          </p:cNvCxnSpPr>
          <p:nvPr/>
        </p:nvCxnSpPr>
        <p:spPr>
          <a:xfrm flipH="1">
            <a:off x="8977630" y="6078220"/>
            <a:ext cx="666115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0" idx="1"/>
            <a:endCxn id="19" idx="3"/>
          </p:cNvCxnSpPr>
          <p:nvPr/>
        </p:nvCxnSpPr>
        <p:spPr>
          <a:xfrm flipH="1">
            <a:off x="7527925" y="6078220"/>
            <a:ext cx="439420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9" idx="1"/>
            <a:endCxn id="18" idx="3"/>
          </p:cNvCxnSpPr>
          <p:nvPr/>
        </p:nvCxnSpPr>
        <p:spPr>
          <a:xfrm flipH="1">
            <a:off x="6078220" y="6078220"/>
            <a:ext cx="439420" cy="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8" idx="1"/>
          </p:cNvCxnSpPr>
          <p:nvPr/>
        </p:nvCxnSpPr>
        <p:spPr>
          <a:xfrm flipH="1">
            <a:off x="4057015" y="6078220"/>
            <a:ext cx="859790" cy="1905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3496310" y="5097145"/>
            <a:ext cx="6350" cy="636270"/>
          </a:xfrm>
          <a:prstGeom prst="straightConnector1">
            <a:avLst/>
          </a:prstGeom>
          <a:ln>
            <a:solidFill>
              <a:srgbClr val="70844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4700270" y="4189095"/>
            <a:ext cx="707390" cy="6985"/>
          </a:xfrm>
          <a:prstGeom prst="straightConnector1">
            <a:avLst/>
          </a:prstGeom>
          <a:ln>
            <a:solidFill>
              <a:srgbClr val="B145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734560" y="3482340"/>
            <a:ext cx="251460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B14501"/>
                </a:solidFill>
              </a:rPr>
              <a:t>②用户提问和知识检索</a:t>
            </a:r>
            <a:endParaRPr lang="zh-CN" altLang="en-US">
              <a:solidFill>
                <a:srgbClr val="B1450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791075" y="5313680"/>
            <a:ext cx="247205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708441"/>
                </a:solidFill>
              </a:rPr>
              <a:t>③调用大模型生成答案</a:t>
            </a:r>
            <a:endParaRPr lang="zh-CN" altLang="en-US">
              <a:solidFill>
                <a:srgbClr val="70844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141710" y="3705225"/>
            <a:ext cx="6216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检索</a:t>
            </a:r>
            <a:endParaRPr lang="zh-CN" altLang="en-US" sz="1400"/>
          </a:p>
        </p:txBody>
      </p:sp>
      <p:sp>
        <p:nvSpPr>
          <p:cNvPr id="83" name="文本框 82"/>
          <p:cNvSpPr txBox="1"/>
          <p:nvPr/>
        </p:nvSpPr>
        <p:spPr>
          <a:xfrm>
            <a:off x="2722245" y="3105150"/>
            <a:ext cx="1687195" cy="908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endParaRPr lang="zh-CN" altLang="en-US" sz="1400">
              <a:sym typeface="+mn-ea"/>
            </a:endParaRPr>
          </a:p>
          <a:p>
            <a:pPr algn="ctr"/>
            <a:endParaRPr lang="zh-CN" altLang="en-US" sz="1400">
              <a:sym typeface="+mn-ea"/>
            </a:endParaRPr>
          </a:p>
          <a:p>
            <a:pPr algn="ctr"/>
            <a:r>
              <a:rPr lang="zh-CN" altLang="en-US" sz="1400">
                <a:sym typeface="+mn-ea"/>
              </a:rPr>
              <a:t>企业微信智能助手</a:t>
            </a:r>
            <a:endParaRPr lang="zh-CN" altLang="en-US" sz="1400">
              <a:sym typeface="+mn-ea"/>
            </a:endParaRPr>
          </a:p>
        </p:txBody>
      </p:sp>
      <p:cxnSp>
        <p:nvCxnSpPr>
          <p:cNvPr id="89" name="直接箭头连接符 88"/>
          <p:cNvCxnSpPr>
            <a:stCxn id="32" idx="3"/>
            <a:endCxn id="92" idx="1"/>
          </p:cNvCxnSpPr>
          <p:nvPr/>
        </p:nvCxnSpPr>
        <p:spPr>
          <a:xfrm>
            <a:off x="1489710" y="3556000"/>
            <a:ext cx="1196340" cy="19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0" name="图片 89" descr="unnam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50" y="3192780"/>
            <a:ext cx="402590" cy="402590"/>
          </a:xfrm>
          <a:prstGeom prst="rect">
            <a:avLst/>
          </a:prstGeom>
        </p:spPr>
      </p:pic>
      <p:sp>
        <p:nvSpPr>
          <p:cNvPr id="92" name="矩形 91"/>
          <p:cNvSpPr/>
          <p:nvPr/>
        </p:nvSpPr>
        <p:spPr>
          <a:xfrm>
            <a:off x="2686050" y="3249930"/>
            <a:ext cx="1656080" cy="650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523240" y="1636395"/>
            <a:ext cx="1662430" cy="52197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ym typeface="+mn-ea"/>
              </a:rPr>
              <a:t>公司产品</a:t>
            </a:r>
            <a:endParaRPr lang="zh-CN" altLang="en-US" sz="1400">
              <a:sym typeface="+mn-ea"/>
            </a:endParaRPr>
          </a:p>
          <a:p>
            <a:pPr algn="ctr"/>
            <a:r>
              <a:rPr lang="en-US" altLang="zh-CN" sz="1400">
                <a:sym typeface="+mn-ea"/>
              </a:rPr>
              <a:t>      </a:t>
            </a:r>
            <a:r>
              <a:rPr lang="zh-CN" altLang="en-US" sz="1400">
                <a:sym typeface="+mn-ea"/>
              </a:rPr>
              <a:t>在线文档平台</a:t>
            </a:r>
            <a:endParaRPr lang="zh-CN" altLang="en-US" sz="1400">
              <a:sym typeface="+mn-ea"/>
            </a:endParaRPr>
          </a:p>
        </p:txBody>
      </p:sp>
      <p:pic>
        <p:nvPicPr>
          <p:cNvPr id="94" name="图片 93" descr="下载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" y="1666240"/>
            <a:ext cx="393065" cy="393065"/>
          </a:xfrm>
          <a:prstGeom prst="rect">
            <a:avLst/>
          </a:prstGeom>
        </p:spPr>
      </p:pic>
      <p:cxnSp>
        <p:nvCxnSpPr>
          <p:cNvPr id="95" name="直接箭头连接符 94"/>
          <p:cNvCxnSpPr>
            <a:stCxn id="93" idx="3"/>
            <a:endCxn id="8" idx="2"/>
          </p:cNvCxnSpPr>
          <p:nvPr/>
        </p:nvCxnSpPr>
        <p:spPr>
          <a:xfrm>
            <a:off x="2185670" y="1897380"/>
            <a:ext cx="109982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2195830" y="1931035"/>
            <a:ext cx="10998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通知更新知识库</a:t>
            </a:r>
            <a:endParaRPr lang="zh-CN" altLang="en-US" sz="1000"/>
          </a:p>
        </p:txBody>
      </p:sp>
      <p:pic>
        <p:nvPicPr>
          <p:cNvPr id="100" name="图片 99" descr="下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385310"/>
            <a:ext cx="994410" cy="720090"/>
          </a:xfrm>
          <a:prstGeom prst="rect">
            <a:avLst/>
          </a:prstGeom>
        </p:spPr>
      </p:pic>
      <p:cxnSp>
        <p:nvCxnSpPr>
          <p:cNvPr id="101" name="直接箭头连接符 100"/>
          <p:cNvCxnSpPr>
            <a:endCxn id="102" idx="1"/>
          </p:cNvCxnSpPr>
          <p:nvPr/>
        </p:nvCxnSpPr>
        <p:spPr>
          <a:xfrm flipV="1">
            <a:off x="1584960" y="4728210"/>
            <a:ext cx="104140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2626360" y="4359910"/>
            <a:ext cx="1745615" cy="736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2734310" y="4812030"/>
            <a:ext cx="1686560" cy="24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官网智能在线助手</a:t>
            </a:r>
            <a:endParaRPr lang="zh-CN" altLang="en-US" sz="1400"/>
          </a:p>
        </p:txBody>
      </p:sp>
      <p:pic>
        <p:nvPicPr>
          <p:cNvPr id="104" name="图片 103" descr="下载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140" y="4415155"/>
            <a:ext cx="406400" cy="406400"/>
          </a:xfrm>
          <a:prstGeom prst="rect">
            <a:avLst/>
          </a:prstGeom>
        </p:spPr>
      </p:pic>
      <p:sp>
        <p:nvSpPr>
          <p:cNvPr id="106" name="灯片编号占位符 3"/>
          <p:cNvSpPr>
            <a:spLocks noGrp="1"/>
          </p:cNvSpPr>
          <p:nvPr/>
        </p:nvSpPr>
        <p:spPr>
          <a:xfrm>
            <a:off x="744855" y="5268595"/>
            <a:ext cx="744855" cy="2451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lvl="0" indent="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4505" lvl="1" indent="-2730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70280" lvl="2" indent="-5588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454150" lvl="3" indent="-8255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939925" lvl="4" indent="-11112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  <a:t>外部客户</a:t>
            </a:r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302510" y="3048000"/>
            <a:ext cx="2398395" cy="224409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文本框 107"/>
          <p:cNvSpPr txBox="1"/>
          <p:nvPr/>
        </p:nvSpPr>
        <p:spPr>
          <a:xfrm>
            <a:off x="10845800" y="3055620"/>
            <a:ext cx="12128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</a:rPr>
              <a:t>相应权限的知识库</a:t>
            </a:r>
            <a:endParaRPr lang="zh-CN" altLang="en-US" sz="1400" b="1"/>
          </a:p>
        </p:txBody>
      </p:sp>
      <p:sp>
        <p:nvSpPr>
          <p:cNvPr id="109" name="灯片编号占位符 3"/>
          <p:cNvSpPr>
            <a:spLocks noGrp="1"/>
          </p:cNvSpPr>
          <p:nvPr/>
        </p:nvSpPr>
        <p:spPr>
          <a:xfrm>
            <a:off x="1489710" y="3156903"/>
            <a:ext cx="861695" cy="3987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lvl="0" indent="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4505" lvl="1" indent="-2730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70280" lvl="2" indent="-5588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454150" lvl="3" indent="-8255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939925" lvl="4" indent="-11112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  <a:t>公司员工</a:t>
            </a:r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  <a:p>
            <a:pPr lvl="0" indent="0"/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  <a:t>具备的权限</a:t>
            </a:r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111" name="灯片编号占位符 3"/>
          <p:cNvSpPr>
            <a:spLocks noGrp="1"/>
          </p:cNvSpPr>
          <p:nvPr/>
        </p:nvSpPr>
        <p:spPr>
          <a:xfrm>
            <a:off x="1518285" y="4338638"/>
            <a:ext cx="934085" cy="3987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lvl="0" indent="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4505" lvl="1" indent="-2730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70280" lvl="2" indent="-5588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454150" lvl="3" indent="-82550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939925" lvl="4" indent="-111125" algn="l" defTabSz="4845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9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  <a:t>外部客户</a:t>
            </a:r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  <a:p>
            <a:pPr lvl="0" indent="0"/>
            <a:r>
              <a:rPr lang="zh-CN" altLang="en-US" sz="1000" b="1" i="1" dirty="0">
                <a:solidFill>
                  <a:srgbClr val="7F7F7F"/>
                </a:solidFill>
                <a:latin typeface="Arial" panose="020B0604020202020204" pitchFamily="34" charset="0"/>
                <a:ea typeface="黑体" panose="02010609060101010101" charset="-122"/>
                <a:sym typeface="Arial" panose="020B0604020202020204" pitchFamily="34" charset="0"/>
              </a:rPr>
              <a:t>具备的权限</a:t>
            </a:r>
            <a:endParaRPr lang="zh-CN" altLang="en-US" sz="1000" b="1" i="1" dirty="0">
              <a:solidFill>
                <a:srgbClr val="7F7F7F"/>
              </a:solidFill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33120" y="124714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前端层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833120" y="224599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业务层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833120" y="324485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核心层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833120" y="4177665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数据层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833120" y="5242560"/>
            <a:ext cx="1390015" cy="508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基础服务层</a:t>
            </a:r>
            <a:endParaRPr lang="zh-CN" altLang="en-US"/>
          </a:p>
        </p:txBody>
      </p:sp>
      <p:sp>
        <p:nvSpPr>
          <p:cNvPr id="23" name="圆柱形 22"/>
          <p:cNvSpPr/>
          <p:nvPr/>
        </p:nvSpPr>
        <p:spPr>
          <a:xfrm>
            <a:off x="282702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MYSQL</a:t>
            </a:r>
            <a:endParaRPr lang="en-US" altLang="zh-CN"/>
          </a:p>
        </p:txBody>
      </p:sp>
      <p:sp>
        <p:nvSpPr>
          <p:cNvPr id="25" name="圆柱形 24"/>
          <p:cNvSpPr/>
          <p:nvPr/>
        </p:nvSpPr>
        <p:spPr>
          <a:xfrm>
            <a:off x="427101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Redis</a:t>
            </a:r>
            <a:endParaRPr lang="en-US" altLang="zh-CN"/>
          </a:p>
        </p:txBody>
      </p:sp>
      <p:sp>
        <p:nvSpPr>
          <p:cNvPr id="26" name="圆柱形 25"/>
          <p:cNvSpPr/>
          <p:nvPr/>
        </p:nvSpPr>
        <p:spPr>
          <a:xfrm>
            <a:off x="5715000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Minio</a:t>
            </a:r>
            <a:endParaRPr lang="en-US" altLang="zh-CN"/>
          </a:p>
        </p:txBody>
      </p:sp>
      <p:sp>
        <p:nvSpPr>
          <p:cNvPr id="27" name="圆柱形 26"/>
          <p:cNvSpPr/>
          <p:nvPr/>
        </p:nvSpPr>
        <p:spPr>
          <a:xfrm>
            <a:off x="7309485" y="5147310"/>
            <a:ext cx="1063625" cy="66103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ElasticSearch</a:t>
            </a:r>
            <a:endParaRPr lang="en-US" altLang="zh-CN"/>
          </a:p>
        </p:txBody>
      </p:sp>
      <p:sp>
        <p:nvSpPr>
          <p:cNvPr id="40" name="立方体 39"/>
          <p:cNvSpPr/>
          <p:nvPr/>
        </p:nvSpPr>
        <p:spPr>
          <a:xfrm>
            <a:off x="8836660" y="5146675"/>
            <a:ext cx="1169035" cy="673100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大模型</a:t>
            </a:r>
            <a:endParaRPr lang="zh-CN" altLang="en-US"/>
          </a:p>
        </p:txBody>
      </p:sp>
      <p:sp>
        <p:nvSpPr>
          <p:cNvPr id="41" name="立方体 40"/>
          <p:cNvSpPr/>
          <p:nvPr/>
        </p:nvSpPr>
        <p:spPr>
          <a:xfrm>
            <a:off x="10270490" y="5147310"/>
            <a:ext cx="1264285" cy="661035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向量模型</a:t>
            </a:r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2816225" y="3302000"/>
            <a:ext cx="882777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903855" y="426783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PyMySQL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4492625" y="4260215"/>
            <a:ext cx="1075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redis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5782310" y="425831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minio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7000875" y="4277360"/>
            <a:ext cx="177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elasticsearch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9189085" y="4258310"/>
            <a:ext cx="177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xinference</a:t>
            </a:r>
            <a:r>
              <a:rPr lang="zh-CN" altLang="en-US">
                <a:solidFill>
                  <a:schemeClr val="accent1"/>
                </a:solidFill>
              </a:rPr>
              <a:t>包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9" name="圆角矩形 48"/>
          <p:cNvSpPr/>
          <p:nvPr/>
        </p:nvSpPr>
        <p:spPr>
          <a:xfrm>
            <a:off x="2799080" y="4277360"/>
            <a:ext cx="8827770" cy="4076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256915" y="238569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专家库对话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5284470" y="238569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知识库管理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7431405" y="2404745"/>
            <a:ext cx="1125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智能监盘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4" name="文本框 53"/>
          <p:cNvSpPr txBox="1"/>
          <p:nvPr/>
        </p:nvSpPr>
        <p:spPr>
          <a:xfrm>
            <a:off x="9260840" y="2385695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智能预警</a:t>
            </a:r>
            <a:endParaRPr lang="en-US" altLang="zh-CN"/>
          </a:p>
        </p:txBody>
      </p:sp>
      <p:sp>
        <p:nvSpPr>
          <p:cNvPr id="55" name="圆角矩形 54"/>
          <p:cNvSpPr/>
          <p:nvPr/>
        </p:nvSpPr>
        <p:spPr>
          <a:xfrm>
            <a:off x="3068320" y="2276475"/>
            <a:ext cx="159448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170555" y="3388360"/>
            <a:ext cx="1225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聊天问答</a:t>
            </a:r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4770120" y="3378200"/>
            <a:ext cx="1225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文件管理</a:t>
            </a:r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6133465" y="336931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知识块管理</a:t>
            </a:r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545070" y="3369945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模型管理</a:t>
            </a:r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8936355" y="336931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知识库权限</a:t>
            </a:r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0509250" y="3368040"/>
            <a:ext cx="110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问题反馈</a:t>
            </a:r>
            <a:endParaRPr lang="zh-CN" altLang="en-US"/>
          </a:p>
        </p:txBody>
      </p:sp>
      <p:sp>
        <p:nvSpPr>
          <p:cNvPr id="66" name="圆角矩形 65"/>
          <p:cNvSpPr/>
          <p:nvPr/>
        </p:nvSpPr>
        <p:spPr>
          <a:xfrm>
            <a:off x="2870200" y="1222375"/>
            <a:ext cx="8827770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3326765" y="1331595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Vue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0" name="文本框 69"/>
          <p:cNvSpPr txBox="1"/>
          <p:nvPr/>
        </p:nvSpPr>
        <p:spPr>
          <a:xfrm>
            <a:off x="4663440" y="1304925"/>
            <a:ext cx="1731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Syncplant-Web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6922135" y="131699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Echarts</a:t>
            </a:r>
            <a:endParaRPr lang="en-US" altLang="zh-CN"/>
          </a:p>
        </p:txBody>
      </p:sp>
      <p:sp>
        <p:nvSpPr>
          <p:cNvPr id="72" name="文本框 71"/>
          <p:cNvSpPr txBox="1"/>
          <p:nvPr/>
        </p:nvSpPr>
        <p:spPr>
          <a:xfrm>
            <a:off x="8493125" y="1304925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Vue-pdf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10136505" y="131191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Axios</a:t>
            </a:r>
            <a:endParaRPr lang="en-US" altLang="zh-CN"/>
          </a:p>
        </p:txBody>
      </p:sp>
      <p:sp>
        <p:nvSpPr>
          <p:cNvPr id="74" name="上箭头 73"/>
          <p:cNvSpPr/>
          <p:nvPr/>
        </p:nvSpPr>
        <p:spPr>
          <a:xfrm>
            <a:off x="3717925" y="183261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上箭头 74"/>
          <p:cNvSpPr/>
          <p:nvPr/>
        </p:nvSpPr>
        <p:spPr>
          <a:xfrm>
            <a:off x="5845810" y="186372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上箭头 75"/>
          <p:cNvSpPr/>
          <p:nvPr/>
        </p:nvSpPr>
        <p:spPr>
          <a:xfrm>
            <a:off x="7823200" y="183388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上箭头 76"/>
          <p:cNvSpPr/>
          <p:nvPr/>
        </p:nvSpPr>
        <p:spPr>
          <a:xfrm>
            <a:off x="9785985" y="183832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上箭头 77"/>
          <p:cNvSpPr/>
          <p:nvPr/>
        </p:nvSpPr>
        <p:spPr>
          <a:xfrm>
            <a:off x="3711575" y="2864485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上箭头 78"/>
          <p:cNvSpPr/>
          <p:nvPr/>
        </p:nvSpPr>
        <p:spPr>
          <a:xfrm>
            <a:off x="5839460" y="28956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上箭头 79"/>
          <p:cNvSpPr/>
          <p:nvPr/>
        </p:nvSpPr>
        <p:spPr>
          <a:xfrm>
            <a:off x="7832725" y="28956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上箭头 80"/>
          <p:cNvSpPr/>
          <p:nvPr/>
        </p:nvSpPr>
        <p:spPr>
          <a:xfrm>
            <a:off x="9749155" y="28702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上箭头 81"/>
          <p:cNvSpPr/>
          <p:nvPr/>
        </p:nvSpPr>
        <p:spPr>
          <a:xfrm>
            <a:off x="7021830" y="386842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上箭头 82"/>
          <p:cNvSpPr/>
          <p:nvPr/>
        </p:nvSpPr>
        <p:spPr>
          <a:xfrm>
            <a:off x="323850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上箭头 83"/>
          <p:cNvSpPr/>
          <p:nvPr/>
        </p:nvSpPr>
        <p:spPr>
          <a:xfrm>
            <a:off x="469519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上箭头 84"/>
          <p:cNvSpPr/>
          <p:nvPr/>
        </p:nvSpPr>
        <p:spPr>
          <a:xfrm>
            <a:off x="6114415" y="474218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上箭头 85"/>
          <p:cNvSpPr/>
          <p:nvPr/>
        </p:nvSpPr>
        <p:spPr>
          <a:xfrm>
            <a:off x="7746365" y="474980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上箭头 86"/>
          <p:cNvSpPr/>
          <p:nvPr/>
        </p:nvSpPr>
        <p:spPr>
          <a:xfrm>
            <a:off x="9277350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上箭头 87"/>
          <p:cNvSpPr/>
          <p:nvPr/>
        </p:nvSpPr>
        <p:spPr>
          <a:xfrm>
            <a:off x="10758805" y="4734560"/>
            <a:ext cx="287655" cy="37592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5198745" y="2316480"/>
            <a:ext cx="159448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7309485" y="2310765"/>
            <a:ext cx="136969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圆角矩形 90"/>
          <p:cNvSpPr/>
          <p:nvPr/>
        </p:nvSpPr>
        <p:spPr>
          <a:xfrm>
            <a:off x="9174480" y="2310765"/>
            <a:ext cx="1369695" cy="553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27925" y="2611755"/>
            <a:ext cx="1438910" cy="422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检索系统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59040" y="1911985"/>
            <a:ext cx="1363345" cy="41656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用户查询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2890" y="3838575"/>
            <a:ext cx="1363345" cy="4165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火电企业文档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05120" y="350964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知识库管理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78225" y="4135120"/>
            <a:ext cx="1363345" cy="4165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Excel</a:t>
            </a:r>
            <a:r>
              <a:rPr lang="zh-CN" altLang="en-US" sz="1400">
                <a:solidFill>
                  <a:schemeClr val="tx1"/>
                </a:solidFill>
              </a:rPr>
              <a:t>文件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99680" y="6126480"/>
            <a:ext cx="1363345" cy="273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回答输出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94600" y="5543550"/>
            <a:ext cx="1363345" cy="32575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提示词</a:t>
            </a:r>
            <a:r>
              <a:rPr lang="en-US" altLang="zh-CN" sz="1400">
                <a:solidFill>
                  <a:schemeClr val="tx1"/>
                </a:solidFill>
              </a:rPr>
              <a:t>+</a:t>
            </a:r>
            <a:r>
              <a:rPr lang="zh-CN" altLang="en-US" sz="1400">
                <a:solidFill>
                  <a:schemeClr val="tx1"/>
                </a:solidFill>
              </a:rPr>
              <a:t>大模型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78225" y="3509645"/>
            <a:ext cx="1363345" cy="4165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普通文件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93690" y="412432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微服务数据集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805930" y="3772535"/>
            <a:ext cx="714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提供服务</a:t>
            </a:r>
            <a:endParaRPr lang="zh-CN" altLang="en-US" sz="1000"/>
          </a:p>
        </p:txBody>
      </p:sp>
      <p:cxnSp>
        <p:nvCxnSpPr>
          <p:cNvPr id="2" name="直接箭头连接符 1"/>
          <p:cNvCxnSpPr>
            <a:stCxn id="11" idx="3"/>
          </p:cNvCxnSpPr>
          <p:nvPr/>
        </p:nvCxnSpPr>
        <p:spPr>
          <a:xfrm flipV="1">
            <a:off x="4941570" y="3714750"/>
            <a:ext cx="47117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6" idx="3"/>
            <a:endCxn id="11" idx="1"/>
          </p:cNvCxnSpPr>
          <p:nvPr/>
        </p:nvCxnSpPr>
        <p:spPr>
          <a:xfrm flipV="1">
            <a:off x="2896235" y="3717925"/>
            <a:ext cx="681990" cy="32893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6" idx="3"/>
            <a:endCxn id="8" idx="1"/>
          </p:cNvCxnSpPr>
          <p:nvPr/>
        </p:nvCxnSpPr>
        <p:spPr>
          <a:xfrm>
            <a:off x="2896235" y="4046855"/>
            <a:ext cx="681990" cy="2965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3"/>
          </p:cNvCxnSpPr>
          <p:nvPr/>
        </p:nvCxnSpPr>
        <p:spPr>
          <a:xfrm>
            <a:off x="4941570" y="4343400"/>
            <a:ext cx="46355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柱形 22"/>
          <p:cNvSpPr/>
          <p:nvPr/>
        </p:nvSpPr>
        <p:spPr>
          <a:xfrm>
            <a:off x="7458075" y="3409950"/>
            <a:ext cx="1581150" cy="121666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核心服务层（数据集和）</a:t>
            </a:r>
            <a:endParaRPr lang="zh-CN" altLang="en-US"/>
          </a:p>
        </p:txBody>
      </p:sp>
      <p:cxnSp>
        <p:nvCxnSpPr>
          <p:cNvPr id="27" name="肘形连接符 26"/>
          <p:cNvCxnSpPr>
            <a:stCxn id="7" idx="3"/>
            <a:endCxn id="12" idx="3"/>
          </p:cNvCxnSpPr>
          <p:nvPr/>
        </p:nvCxnSpPr>
        <p:spPr>
          <a:xfrm flipH="1">
            <a:off x="6757035" y="3717925"/>
            <a:ext cx="11430" cy="614680"/>
          </a:xfrm>
          <a:prstGeom prst="bentConnector3">
            <a:avLst>
              <a:gd name="adj1" fmla="val -208333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23" idx="2"/>
          </p:cNvCxnSpPr>
          <p:nvPr/>
        </p:nvCxnSpPr>
        <p:spPr>
          <a:xfrm flipV="1">
            <a:off x="7002780" y="4018280"/>
            <a:ext cx="45529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下箭头 41"/>
          <p:cNvSpPr/>
          <p:nvPr/>
        </p:nvSpPr>
        <p:spPr>
          <a:xfrm>
            <a:off x="8183880" y="3094990"/>
            <a:ext cx="106680" cy="2413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8199120" y="2378710"/>
            <a:ext cx="91440" cy="2032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下箭头 43"/>
          <p:cNvSpPr/>
          <p:nvPr/>
        </p:nvSpPr>
        <p:spPr>
          <a:xfrm>
            <a:off x="8199120" y="4664710"/>
            <a:ext cx="91440" cy="2241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7571740" y="4923790"/>
            <a:ext cx="1363345" cy="32575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知识块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数据集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7" name="下箭头 46"/>
          <p:cNvSpPr/>
          <p:nvPr/>
        </p:nvSpPr>
        <p:spPr>
          <a:xfrm>
            <a:off x="8221980" y="5297170"/>
            <a:ext cx="75565" cy="2057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下箭头 48"/>
          <p:cNvSpPr/>
          <p:nvPr/>
        </p:nvSpPr>
        <p:spPr>
          <a:xfrm>
            <a:off x="8214360" y="5899150"/>
            <a:ext cx="91440" cy="2057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63970" y="2590800"/>
            <a:ext cx="1438910" cy="4229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检索系统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93815" y="182245"/>
            <a:ext cx="1363345" cy="41656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用户查询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53435" y="121285"/>
            <a:ext cx="1363345" cy="416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火电企业文档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92600" y="183197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知识库管理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03805" y="1136015"/>
            <a:ext cx="1363345" cy="416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Excel</a:t>
            </a:r>
            <a:r>
              <a:rPr lang="zh-CN" altLang="en-US" sz="1400">
                <a:solidFill>
                  <a:schemeClr val="tx1"/>
                </a:solidFill>
              </a:rPr>
              <a:t>文件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62020" y="5561330"/>
            <a:ext cx="1363345" cy="273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回答输出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62020" y="4371340"/>
            <a:ext cx="1363980" cy="31623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返回检索数据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86885" y="1129030"/>
            <a:ext cx="1363345" cy="416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普通文件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97455" y="1831975"/>
            <a:ext cx="1363345" cy="416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微服务数据集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497455" y="3240405"/>
            <a:ext cx="714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提供服务</a:t>
            </a:r>
            <a:endParaRPr lang="zh-CN" altLang="en-US" sz="1000"/>
          </a:p>
        </p:txBody>
      </p:sp>
      <p:cxnSp>
        <p:nvCxnSpPr>
          <p:cNvPr id="2" name="直接箭头连接符 1"/>
          <p:cNvCxnSpPr>
            <a:stCxn id="11" idx="2"/>
            <a:endCxn id="7" idx="0"/>
          </p:cNvCxnSpPr>
          <p:nvPr/>
        </p:nvCxnSpPr>
        <p:spPr>
          <a:xfrm>
            <a:off x="4968875" y="1545590"/>
            <a:ext cx="5715" cy="2863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6" idx="2"/>
            <a:endCxn id="11" idx="0"/>
          </p:cNvCxnSpPr>
          <p:nvPr/>
        </p:nvCxnSpPr>
        <p:spPr>
          <a:xfrm rot="5400000" flipV="1">
            <a:off x="4206558" y="366713"/>
            <a:ext cx="591185" cy="9334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6" idx="2"/>
            <a:endCxn id="8" idx="0"/>
          </p:cNvCxnSpPr>
          <p:nvPr/>
        </p:nvCxnSpPr>
        <p:spPr>
          <a:xfrm rot="5400000">
            <a:off x="3311525" y="412115"/>
            <a:ext cx="598170" cy="8496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2"/>
            <a:endCxn id="12" idx="0"/>
          </p:cNvCxnSpPr>
          <p:nvPr/>
        </p:nvCxnSpPr>
        <p:spPr>
          <a:xfrm flipH="1">
            <a:off x="3179445" y="1552575"/>
            <a:ext cx="6350" cy="279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柱形 22"/>
          <p:cNvSpPr/>
          <p:nvPr/>
        </p:nvSpPr>
        <p:spPr>
          <a:xfrm>
            <a:off x="3353435" y="2754630"/>
            <a:ext cx="1581150" cy="121666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核心服务层（数据中心）</a:t>
            </a:r>
            <a:endParaRPr lang="zh-CN" altLang="en-US"/>
          </a:p>
        </p:txBody>
      </p:sp>
      <p:cxnSp>
        <p:nvCxnSpPr>
          <p:cNvPr id="27" name="肘形连接符 26"/>
          <p:cNvCxnSpPr>
            <a:stCxn id="7" idx="2"/>
            <a:endCxn id="12" idx="2"/>
          </p:cNvCxnSpPr>
          <p:nvPr/>
        </p:nvCxnSpPr>
        <p:spPr>
          <a:xfrm rot="5400000">
            <a:off x="4077018" y="1350963"/>
            <a:ext cx="3175" cy="1795145"/>
          </a:xfrm>
          <a:prstGeom prst="bentConnector3">
            <a:avLst>
              <a:gd name="adj1" fmla="val 754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080510" y="2487930"/>
            <a:ext cx="0" cy="266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394450" y="1831975"/>
            <a:ext cx="1363345" cy="273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关键词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向量化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>
            <a:stCxn id="3" idx="2"/>
            <a:endCxn id="4" idx="0"/>
          </p:cNvCxnSpPr>
          <p:nvPr/>
        </p:nvCxnSpPr>
        <p:spPr>
          <a:xfrm>
            <a:off x="7076440" y="2105025"/>
            <a:ext cx="6985" cy="485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流程图: 决策 14"/>
          <p:cNvSpPr/>
          <p:nvPr/>
        </p:nvSpPr>
        <p:spPr>
          <a:xfrm>
            <a:off x="6161405" y="873760"/>
            <a:ext cx="1828800" cy="47244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564630" y="969010"/>
            <a:ext cx="1101725" cy="260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勾选数据集？</a:t>
            </a:r>
            <a:endParaRPr lang="zh-CN" altLang="en-US" sz="1400"/>
          </a:p>
        </p:txBody>
      </p:sp>
      <p:cxnSp>
        <p:nvCxnSpPr>
          <p:cNvPr id="18" name="直接箭头连接符 17"/>
          <p:cNvCxnSpPr>
            <a:stCxn id="5" idx="2"/>
            <a:endCxn id="15" idx="0"/>
          </p:cNvCxnSpPr>
          <p:nvPr/>
        </p:nvCxnSpPr>
        <p:spPr>
          <a:xfrm>
            <a:off x="7075805" y="598805"/>
            <a:ext cx="0" cy="2749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5" idx="2"/>
            <a:endCxn id="3" idx="0"/>
          </p:cNvCxnSpPr>
          <p:nvPr/>
        </p:nvCxnSpPr>
        <p:spPr>
          <a:xfrm>
            <a:off x="7075805" y="1346200"/>
            <a:ext cx="635" cy="485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4" idx="2"/>
            <a:endCxn id="23" idx="4"/>
          </p:cNvCxnSpPr>
          <p:nvPr/>
        </p:nvCxnSpPr>
        <p:spPr>
          <a:xfrm rot="5400000">
            <a:off x="5834380" y="2113915"/>
            <a:ext cx="349250" cy="214884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180330" y="3081020"/>
            <a:ext cx="13239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检索数据集</a:t>
            </a:r>
            <a:r>
              <a:rPr lang="en-US" altLang="zh-CN" sz="1000"/>
              <a:t>/</a:t>
            </a:r>
            <a:r>
              <a:rPr lang="zh-CN" altLang="en-US" sz="1000"/>
              <a:t>知识块</a:t>
            </a:r>
            <a:endParaRPr lang="zh-CN" altLang="en-US" sz="1000"/>
          </a:p>
        </p:txBody>
      </p:sp>
      <p:cxnSp>
        <p:nvCxnSpPr>
          <p:cNvPr id="26" name="直接箭头连接符 25"/>
          <p:cNvCxnSpPr>
            <a:stCxn id="23" idx="3"/>
            <a:endCxn id="10" idx="0"/>
          </p:cNvCxnSpPr>
          <p:nvPr/>
        </p:nvCxnSpPr>
        <p:spPr>
          <a:xfrm>
            <a:off x="4144010" y="3971290"/>
            <a:ext cx="0" cy="400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462020" y="5040630"/>
            <a:ext cx="1363345" cy="273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大模型</a:t>
            </a:r>
            <a:r>
              <a:rPr lang="en-US" altLang="zh-CN" sz="1400">
                <a:solidFill>
                  <a:schemeClr val="tx1"/>
                </a:solidFill>
              </a:rPr>
              <a:t>LLM</a:t>
            </a:r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>
            <a:stCxn id="10" idx="2"/>
            <a:endCxn id="29" idx="0"/>
          </p:cNvCxnSpPr>
          <p:nvPr/>
        </p:nvCxnSpPr>
        <p:spPr>
          <a:xfrm>
            <a:off x="4144010" y="4687570"/>
            <a:ext cx="0" cy="3530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  <a:endCxn id="9" idx="0"/>
          </p:cNvCxnSpPr>
          <p:nvPr/>
        </p:nvCxnSpPr>
        <p:spPr>
          <a:xfrm>
            <a:off x="4144010" y="5313680"/>
            <a:ext cx="0" cy="247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144010" y="4741545"/>
            <a:ext cx="714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提示词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7047865" y="2597150"/>
            <a:ext cx="2344420" cy="1243965"/>
          </a:xfrm>
          <a:prstGeom prst="rect">
            <a:avLst/>
          </a:prstGeom>
          <a:solidFill>
            <a:srgbClr val="92D050"/>
          </a:solidFill>
          <a:ln w="12700" cmpd="sng"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505960" y="2618105"/>
            <a:ext cx="2179320" cy="1243965"/>
          </a:xfrm>
          <a:prstGeom prst="rect">
            <a:avLst/>
          </a:prstGeom>
          <a:solidFill>
            <a:srgbClr val="92D050"/>
          </a:solidFill>
          <a:ln w="12700" cmpd="sng"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15130" y="1409065"/>
            <a:ext cx="5301615" cy="786130"/>
          </a:xfrm>
          <a:prstGeom prst="rect">
            <a:avLst/>
          </a:prstGeom>
          <a:solidFill>
            <a:schemeClr val="bg1"/>
          </a:solidFill>
          <a:ln w="15875"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21935" y="2812415"/>
            <a:ext cx="296545" cy="802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财务数据集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1409700"/>
            <a:ext cx="490855" cy="44907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火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电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企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业的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AI</a:t>
            </a:r>
            <a:endParaRPr lang="en-US" altLang="zh-CN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智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能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化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应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用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平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</a:rPr>
              <a:t>台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25975" y="1491615"/>
            <a:ext cx="4085590" cy="611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400" b="1">
                <a:solidFill>
                  <a:schemeClr val="tx1"/>
                </a:solidFill>
              </a:rPr>
              <a:t>关键问题一</a:t>
            </a:r>
            <a:r>
              <a:rPr lang="zh-CN" altLang="en-US" sz="1400">
                <a:solidFill>
                  <a:schemeClr val="tx1"/>
                </a:solidFill>
              </a:rPr>
              <a:t>：火电企业文档存储和查询问题</a:t>
            </a:r>
            <a:br>
              <a:rPr lang="zh-CN" altLang="en-US" sz="1400">
                <a:solidFill>
                  <a:schemeClr val="tx1"/>
                </a:solidFill>
              </a:rPr>
            </a:br>
            <a:r>
              <a:rPr lang="zh-CN" altLang="en-US" sz="1400" b="1">
                <a:solidFill>
                  <a:schemeClr val="tx1"/>
                </a:solidFill>
              </a:rPr>
              <a:t>关键问题二</a:t>
            </a:r>
            <a:r>
              <a:rPr lang="zh-CN" altLang="en-US" sz="1400">
                <a:solidFill>
                  <a:schemeClr val="tx1"/>
                </a:solidFill>
              </a:rPr>
              <a:t>：财务、指标数据存储和查询问题</a:t>
            </a:r>
            <a:endParaRPr lang="zh-CN" altLang="en-US" sz="1400">
              <a:solidFill>
                <a:schemeClr val="tx1"/>
              </a:solidFill>
            </a:endParaRPr>
          </a:p>
          <a:p>
            <a:pPr algn="l"/>
            <a:r>
              <a:rPr lang="zh-CN" altLang="en-US" sz="1400" b="1">
                <a:solidFill>
                  <a:schemeClr val="tx1"/>
                </a:solidFill>
              </a:rPr>
              <a:t>关键问题三</a:t>
            </a:r>
            <a:r>
              <a:rPr lang="zh-CN" altLang="en-US" sz="1400">
                <a:solidFill>
                  <a:schemeClr val="tx1"/>
                </a:solidFill>
              </a:rPr>
              <a:t>：火电机组智能监盘问题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62505" y="3387090"/>
            <a:ext cx="1363345" cy="41656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关键技术和理论方法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97045" y="5412105"/>
            <a:ext cx="5219700" cy="537845"/>
          </a:xfrm>
          <a:prstGeom prst="rect">
            <a:avLst/>
          </a:prstGeom>
        </p:spPr>
        <p:style>
          <a:lnRef idx="2">
            <a:schemeClr val="accent5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工业互联网：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AI</a:t>
            </a:r>
            <a:r>
              <a:rPr lang="zh-CN" altLang="en-US" sz="1400">
                <a:solidFill>
                  <a:schemeClr val="tx1"/>
                </a:solidFill>
              </a:rPr>
              <a:t>智能化应用平台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09160" y="2826385"/>
            <a:ext cx="296545" cy="796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62505" y="1604645"/>
            <a:ext cx="1363345" cy="41656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企业痛点问题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02175" y="2890520"/>
            <a:ext cx="2755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accent1"/>
                </a:solidFill>
              </a:rPr>
              <a:t>数据存储</a:t>
            </a:r>
            <a:endParaRPr lang="zh-CN" altLang="en-US" sz="1000" b="1">
              <a:solidFill>
                <a:schemeClr val="accent1"/>
              </a:solidFill>
            </a:endParaRPr>
          </a:p>
        </p:txBody>
      </p:sp>
      <p:cxnSp>
        <p:nvCxnSpPr>
          <p:cNvPr id="2" name="直接箭头连接符 1"/>
          <p:cNvCxnSpPr>
            <a:stCxn id="11" idx="3"/>
          </p:cNvCxnSpPr>
          <p:nvPr/>
        </p:nvCxnSpPr>
        <p:spPr>
          <a:xfrm flipV="1">
            <a:off x="3625850" y="1809750"/>
            <a:ext cx="471170" cy="3175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3"/>
          </p:cNvCxnSpPr>
          <p:nvPr/>
        </p:nvCxnSpPr>
        <p:spPr>
          <a:xfrm>
            <a:off x="3625850" y="3595370"/>
            <a:ext cx="463550" cy="635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339330" y="4244975"/>
            <a:ext cx="1363345" cy="3257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知识块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数据集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62505" y="5484495"/>
            <a:ext cx="1438910" cy="41656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400">
                <a:solidFill>
                  <a:schemeClr val="tx1"/>
                </a:solidFill>
              </a:rPr>
              <a:t>平台测试与应用验证</a:t>
            </a:r>
            <a:endParaRPr lang="zh-CN" sz="1400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>
            <a:stCxn id="3" idx="3"/>
            <a:endCxn id="9" idx="1"/>
          </p:cNvCxnSpPr>
          <p:nvPr/>
        </p:nvCxnSpPr>
        <p:spPr>
          <a:xfrm flipV="1">
            <a:off x="3701415" y="5681345"/>
            <a:ext cx="595630" cy="1143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6" idx="3"/>
            <a:endCxn id="11" idx="1"/>
          </p:cNvCxnSpPr>
          <p:nvPr/>
        </p:nvCxnSpPr>
        <p:spPr>
          <a:xfrm flipV="1">
            <a:off x="1699895" y="1812925"/>
            <a:ext cx="562610" cy="18421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6" idx="3"/>
            <a:endCxn id="3" idx="1"/>
          </p:cNvCxnSpPr>
          <p:nvPr/>
        </p:nvCxnSpPr>
        <p:spPr>
          <a:xfrm>
            <a:off x="1699895" y="3655060"/>
            <a:ext cx="562610" cy="20377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6" idx="3"/>
            <a:endCxn id="8" idx="1"/>
          </p:cNvCxnSpPr>
          <p:nvPr/>
        </p:nvCxnSpPr>
        <p:spPr>
          <a:xfrm flipV="1">
            <a:off x="1699895" y="3595370"/>
            <a:ext cx="562610" cy="596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215130" y="2499360"/>
            <a:ext cx="5302250" cy="2687320"/>
          </a:xfrm>
          <a:prstGeom prst="roundRect">
            <a:avLst>
              <a:gd name="adj" fmla="val 4939"/>
            </a:avLst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782310" y="2813050"/>
            <a:ext cx="296545" cy="7854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指标数据集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610100" y="2750185"/>
            <a:ext cx="491490" cy="94043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196205" y="2744470"/>
            <a:ext cx="1414145" cy="94678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下箭头 31"/>
          <p:cNvSpPr/>
          <p:nvPr/>
        </p:nvSpPr>
        <p:spPr>
          <a:xfrm>
            <a:off x="6829425" y="2261870"/>
            <a:ext cx="95250" cy="1619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7806055" y="2756535"/>
            <a:ext cx="1483580" cy="940435"/>
            <a:chOff x="11829" y="4431"/>
            <a:chExt cx="2616" cy="1481"/>
          </a:xfrm>
        </p:grpSpPr>
        <p:sp>
          <p:nvSpPr>
            <p:cNvPr id="36" name="矩形 35"/>
            <p:cNvSpPr/>
            <p:nvPr/>
          </p:nvSpPr>
          <p:spPr>
            <a:xfrm>
              <a:off x="12928" y="4536"/>
              <a:ext cx="467" cy="12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向量相似度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1829" y="4431"/>
              <a:ext cx="2616" cy="1481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2121" y="4536"/>
              <a:ext cx="467" cy="12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关键词匹配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39" name="下箭头 38"/>
          <p:cNvSpPr/>
          <p:nvPr/>
        </p:nvSpPr>
        <p:spPr>
          <a:xfrm>
            <a:off x="6743700" y="5224780"/>
            <a:ext cx="85725" cy="1746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4505960" y="3954780"/>
            <a:ext cx="2179320" cy="1192530"/>
          </a:xfrm>
          <a:prstGeom prst="rect">
            <a:avLst/>
          </a:prstGeom>
          <a:solidFill>
            <a:srgbClr val="92D050"/>
          </a:solidFill>
          <a:ln w="12700" cmpd="sng"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709160" y="4140200"/>
            <a:ext cx="302895" cy="9150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603750" y="4096385"/>
            <a:ext cx="491490" cy="102679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699000" y="4237355"/>
            <a:ext cx="226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rgbClr val="4874BF"/>
                </a:solidFill>
              </a:rPr>
              <a:t>数字孪生</a:t>
            </a:r>
            <a:endParaRPr lang="zh-CN" altLang="en-US" sz="1000" b="1">
              <a:solidFill>
                <a:srgbClr val="4874BF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314315" y="4171950"/>
            <a:ext cx="296545" cy="922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模拟火电方案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227955" y="4095750"/>
            <a:ext cx="1381760" cy="102044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5775960" y="4162425"/>
            <a:ext cx="296545" cy="922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模拟运行效益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047865" y="3945890"/>
            <a:ext cx="2345055" cy="1192530"/>
          </a:xfrm>
          <a:prstGeom prst="rect">
            <a:avLst/>
          </a:prstGeom>
          <a:solidFill>
            <a:srgbClr val="92D050"/>
          </a:solidFill>
          <a:ln w="12700" cmpd="sng">
            <a:noFill/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7169150" y="4096385"/>
            <a:ext cx="491490" cy="9918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8436610" y="4140200"/>
            <a:ext cx="240030" cy="9029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文档问答助手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819390" y="4095750"/>
            <a:ext cx="1461770" cy="99250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7971155" y="4141470"/>
            <a:ext cx="264795" cy="9017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财务问答助手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7165340" y="2759710"/>
            <a:ext cx="491490" cy="939800"/>
            <a:chOff x="10260" y="4429"/>
            <a:chExt cx="774" cy="1480"/>
          </a:xfrm>
        </p:grpSpPr>
        <p:grpSp>
          <p:nvGrpSpPr>
            <p:cNvPr id="60" name="组合 59"/>
            <p:cNvGrpSpPr/>
            <p:nvPr/>
          </p:nvGrpSpPr>
          <p:grpSpPr>
            <a:xfrm>
              <a:off x="10260" y="4429"/>
              <a:ext cx="774" cy="1480"/>
              <a:chOff x="10850" y="4441"/>
              <a:chExt cx="774" cy="148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10991" y="4561"/>
                <a:ext cx="467" cy="12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0850" y="4441"/>
                <a:ext cx="774" cy="1481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0404" y="4645"/>
              <a:ext cx="411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>
                  <a:solidFill>
                    <a:srgbClr val="4874BF"/>
                  </a:solidFill>
                </a:rPr>
                <a:t>多元检索</a:t>
              </a:r>
              <a:endParaRPr lang="zh-CN" altLang="en-US" sz="1000" b="1">
                <a:solidFill>
                  <a:srgbClr val="4874BF"/>
                </a:solidFill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6204585" y="2816225"/>
            <a:ext cx="296545" cy="7854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文档文件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198235" y="4163695"/>
            <a:ext cx="302895" cy="9150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模拟物理实体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877935" y="4149725"/>
            <a:ext cx="263525" cy="892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智能时序预测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7257814" y="4142105"/>
            <a:ext cx="293606" cy="899937"/>
            <a:chOff x="16649" y="6202"/>
            <a:chExt cx="508" cy="1596"/>
          </a:xfrm>
        </p:grpSpPr>
        <p:sp>
          <p:nvSpPr>
            <p:cNvPr id="53" name="矩形 52"/>
            <p:cNvSpPr/>
            <p:nvPr/>
          </p:nvSpPr>
          <p:spPr>
            <a:xfrm>
              <a:off x="16656" y="6202"/>
              <a:ext cx="501" cy="1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649" y="6278"/>
              <a:ext cx="500" cy="15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 b="1">
                  <a:solidFill>
                    <a:srgbClr val="4874BF"/>
                  </a:solidFill>
                </a:rPr>
                <a:t>RAG</a:t>
              </a:r>
              <a:endParaRPr lang="en-US" altLang="zh-CN" sz="1000" b="1">
                <a:solidFill>
                  <a:srgbClr val="4874BF"/>
                </a:solidFill>
              </a:endParaRPr>
            </a:p>
            <a:p>
              <a:r>
                <a:rPr lang="zh-CN" altLang="en-US" sz="1000" b="1">
                  <a:solidFill>
                    <a:srgbClr val="4874BF"/>
                  </a:solidFill>
                </a:rPr>
                <a:t>技</a:t>
              </a:r>
              <a:endParaRPr lang="zh-CN" altLang="en-US" sz="1000" b="1">
                <a:solidFill>
                  <a:srgbClr val="4874BF"/>
                </a:solidFill>
              </a:endParaRPr>
            </a:p>
            <a:p>
              <a:r>
                <a:rPr lang="zh-CN" altLang="en-US" sz="1000" b="1">
                  <a:solidFill>
                    <a:srgbClr val="4874BF"/>
                  </a:solidFill>
                </a:rPr>
                <a:t>术</a:t>
              </a:r>
              <a:endParaRPr lang="zh-CN" altLang="en-US" sz="1000" b="1">
                <a:solidFill>
                  <a:srgbClr val="4874BF"/>
                </a:solidFill>
              </a:endParaRPr>
            </a:p>
            <a:p>
              <a:endParaRPr lang="zh-CN" altLang="en-US" sz="1000" b="1">
                <a:solidFill>
                  <a:srgbClr val="4874BF"/>
                </a:solidFill>
              </a:endParaRPr>
            </a:p>
          </p:txBody>
        </p:sp>
      </p:grpSp>
      <p:sp>
        <p:nvSpPr>
          <p:cNvPr id="68" name="矩形 67"/>
          <p:cNvSpPr/>
          <p:nvPr/>
        </p:nvSpPr>
        <p:spPr>
          <a:xfrm>
            <a:off x="8870315" y="2816860"/>
            <a:ext cx="270510" cy="815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重排序模型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圆角矩形 28"/>
          <p:cNvSpPr/>
          <p:nvPr/>
        </p:nvSpPr>
        <p:spPr>
          <a:xfrm>
            <a:off x="4989830" y="1323340"/>
            <a:ext cx="1547495" cy="4019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知识块模块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715510" y="1892935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点击进入知识块</a:t>
            </a:r>
            <a:endParaRPr 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454525" y="2464435"/>
            <a:ext cx="2636520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修改文本信息或图片</a:t>
            </a:r>
            <a:endParaRPr 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54525" y="3034030"/>
            <a:ext cx="263588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删除原有数据库文本和图片</a:t>
            </a:r>
            <a:endParaRPr lang="zh-CN" sz="16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418330" y="3578860"/>
            <a:ext cx="2719070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保存新文本信息到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</a:t>
            </a:r>
            <a:r>
              <a:rPr lang="zh-CN" altLang="en-US" sz="1600">
                <a:solidFill>
                  <a:schemeClr val="tx1"/>
                </a:solidFill>
              </a:rPr>
              <a:t>数据库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445000" y="4138295"/>
            <a:ext cx="268287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保存新图片到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Minio</a:t>
            </a:r>
            <a:r>
              <a:rPr lang="zh-CN" altLang="en-US" sz="1600">
                <a:solidFill>
                  <a:schemeClr val="tx1"/>
                </a:solidFill>
              </a:rPr>
              <a:t>数据库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742180" y="4724400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保存并退出</a:t>
            </a:r>
            <a:endParaRPr lang="zh-CN" sz="1600">
              <a:solidFill>
                <a:schemeClr val="tx1"/>
              </a:solidFill>
            </a:endParaRPr>
          </a:p>
        </p:txBody>
      </p:sp>
      <p:cxnSp>
        <p:nvCxnSpPr>
          <p:cNvPr id="67" name="直接箭头连接符 66"/>
          <p:cNvCxnSpPr>
            <a:stCxn id="29" idx="2"/>
            <a:endCxn id="38" idx="0"/>
          </p:cNvCxnSpPr>
          <p:nvPr/>
        </p:nvCxnSpPr>
        <p:spPr>
          <a:xfrm>
            <a:off x="5763895" y="1725295"/>
            <a:ext cx="0" cy="167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38" idx="2"/>
            <a:endCxn id="39" idx="0"/>
          </p:cNvCxnSpPr>
          <p:nvPr/>
        </p:nvCxnSpPr>
        <p:spPr>
          <a:xfrm>
            <a:off x="5763895" y="2268220"/>
            <a:ext cx="8890" cy="196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39" idx="2"/>
            <a:endCxn id="43" idx="0"/>
          </p:cNvCxnSpPr>
          <p:nvPr/>
        </p:nvCxnSpPr>
        <p:spPr>
          <a:xfrm>
            <a:off x="5772785" y="2839720"/>
            <a:ext cx="0" cy="1943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43" idx="2"/>
            <a:endCxn id="44" idx="0"/>
          </p:cNvCxnSpPr>
          <p:nvPr/>
        </p:nvCxnSpPr>
        <p:spPr>
          <a:xfrm>
            <a:off x="5772785" y="3409315"/>
            <a:ext cx="5080" cy="1695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44" idx="2"/>
            <a:endCxn id="59" idx="0"/>
          </p:cNvCxnSpPr>
          <p:nvPr/>
        </p:nvCxnSpPr>
        <p:spPr>
          <a:xfrm>
            <a:off x="5777865" y="3954145"/>
            <a:ext cx="8890" cy="1841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59" idx="2"/>
            <a:endCxn id="66" idx="0"/>
          </p:cNvCxnSpPr>
          <p:nvPr/>
        </p:nvCxnSpPr>
        <p:spPr>
          <a:xfrm>
            <a:off x="5786755" y="4513580"/>
            <a:ext cx="3810" cy="2108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圆角矩形 28"/>
          <p:cNvSpPr/>
          <p:nvPr/>
        </p:nvSpPr>
        <p:spPr>
          <a:xfrm>
            <a:off x="4998720" y="318770"/>
            <a:ext cx="1547495" cy="4019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启动文档解析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724400" y="888365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加入消息队列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706620" y="2526665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Redis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分布式锁</a:t>
            </a:r>
            <a:endParaRPr lang="zh-CN" sz="16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123565" y="3306445"/>
            <a:ext cx="1518920" cy="245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标志解析成功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131050" y="3671570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自动重试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次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67" name="直接箭头连接符 66"/>
          <p:cNvCxnSpPr>
            <a:stCxn id="29" idx="2"/>
            <a:endCxn id="38" idx="0"/>
          </p:cNvCxnSpPr>
          <p:nvPr/>
        </p:nvCxnSpPr>
        <p:spPr>
          <a:xfrm>
            <a:off x="5772785" y="720725"/>
            <a:ext cx="0" cy="167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38" idx="2"/>
            <a:endCxn id="39" idx="0"/>
          </p:cNvCxnSpPr>
          <p:nvPr/>
        </p:nvCxnSpPr>
        <p:spPr>
          <a:xfrm>
            <a:off x="5772785" y="1263650"/>
            <a:ext cx="8890" cy="196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" idx="2"/>
            <a:endCxn id="43" idx="0"/>
          </p:cNvCxnSpPr>
          <p:nvPr/>
        </p:nvCxnSpPr>
        <p:spPr>
          <a:xfrm>
            <a:off x="5755005" y="2284095"/>
            <a:ext cx="0" cy="242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流程图: 决策 1"/>
          <p:cNvSpPr/>
          <p:nvPr/>
        </p:nvSpPr>
        <p:spPr>
          <a:xfrm>
            <a:off x="4779010" y="1460500"/>
            <a:ext cx="1951355" cy="82359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文件是否解析？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3" name="肘形连接符 2"/>
          <p:cNvCxnSpPr>
            <a:stCxn id="2" idx="1"/>
            <a:endCxn id="44" idx="0"/>
          </p:cNvCxnSpPr>
          <p:nvPr/>
        </p:nvCxnSpPr>
        <p:spPr>
          <a:xfrm rot="10800000" flipV="1">
            <a:off x="3883025" y="1872615"/>
            <a:ext cx="895985" cy="143383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382510" y="5060315"/>
            <a:ext cx="1592580" cy="366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记录失败状态</a:t>
            </a:r>
            <a:endParaRPr lang="zh-CN" sz="1600">
              <a:solidFill>
                <a:schemeClr val="tx1"/>
              </a:solidFill>
            </a:endParaRPr>
          </a:p>
        </p:txBody>
      </p:sp>
      <p:sp>
        <p:nvSpPr>
          <p:cNvPr id="5" name="流程图: 决策 4"/>
          <p:cNvSpPr/>
          <p:nvPr/>
        </p:nvSpPr>
        <p:spPr>
          <a:xfrm>
            <a:off x="7142480" y="4299585"/>
            <a:ext cx="2078990" cy="59626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解析成功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66" idx="2"/>
            <a:endCxn id="5" idx="0"/>
          </p:cNvCxnSpPr>
          <p:nvPr/>
        </p:nvCxnSpPr>
        <p:spPr>
          <a:xfrm>
            <a:off x="8179435" y="4046855"/>
            <a:ext cx="2540" cy="2527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94630" y="2199640"/>
            <a:ext cx="365125" cy="27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4328795" y="1531620"/>
            <a:ext cx="39497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239385" y="3729990"/>
            <a:ext cx="420370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6866255" y="3110865"/>
            <a:ext cx="482600" cy="27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14" name="圆角矩形 13"/>
          <p:cNvSpPr/>
          <p:nvPr/>
        </p:nvSpPr>
        <p:spPr>
          <a:xfrm>
            <a:off x="4980940" y="5975350"/>
            <a:ext cx="1537970" cy="40703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前端返回状态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6" name="流程图: 决策 15"/>
          <p:cNvSpPr/>
          <p:nvPr/>
        </p:nvSpPr>
        <p:spPr>
          <a:xfrm>
            <a:off x="4714875" y="3133725"/>
            <a:ext cx="2078990" cy="59626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解析成功？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43" idx="2"/>
            <a:endCxn id="16" idx="0"/>
          </p:cNvCxnSpPr>
          <p:nvPr/>
        </p:nvCxnSpPr>
        <p:spPr>
          <a:xfrm flipH="1">
            <a:off x="5754370" y="2901950"/>
            <a:ext cx="635" cy="231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44" idx="2"/>
          </p:cNvCxnSpPr>
          <p:nvPr/>
        </p:nvCxnSpPr>
        <p:spPr>
          <a:xfrm rot="5400000" flipV="1">
            <a:off x="3872230" y="3561715"/>
            <a:ext cx="1906270" cy="1885315"/>
          </a:xfrm>
          <a:prstGeom prst="bentConnector3">
            <a:avLst>
              <a:gd name="adj1" fmla="val 5481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763260" y="3729990"/>
            <a:ext cx="5080" cy="87503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6" idx="3"/>
            <a:endCxn id="66" idx="0"/>
          </p:cNvCxnSpPr>
          <p:nvPr/>
        </p:nvCxnSpPr>
        <p:spPr>
          <a:xfrm>
            <a:off x="6793865" y="3432175"/>
            <a:ext cx="1385570" cy="23939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477760" y="4757420"/>
            <a:ext cx="427990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cxnSp>
        <p:nvCxnSpPr>
          <p:cNvPr id="24" name="直接连接符 23"/>
          <p:cNvCxnSpPr>
            <a:stCxn id="5" idx="1"/>
          </p:cNvCxnSpPr>
          <p:nvPr/>
        </p:nvCxnSpPr>
        <p:spPr>
          <a:xfrm flipH="1">
            <a:off x="5732145" y="4598035"/>
            <a:ext cx="1410335" cy="571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920230" y="4258945"/>
            <a:ext cx="4286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cxnSp>
        <p:nvCxnSpPr>
          <p:cNvPr id="26" name="直接箭头连接符 25"/>
          <p:cNvCxnSpPr>
            <a:stCxn id="5" idx="2"/>
            <a:endCxn id="4" idx="0"/>
          </p:cNvCxnSpPr>
          <p:nvPr/>
        </p:nvCxnSpPr>
        <p:spPr>
          <a:xfrm flipH="1">
            <a:off x="8178800" y="4895850"/>
            <a:ext cx="3175" cy="164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4" idx="2"/>
            <a:endCxn id="28" idx="3"/>
          </p:cNvCxnSpPr>
          <p:nvPr/>
        </p:nvCxnSpPr>
        <p:spPr>
          <a:xfrm rot="5400000">
            <a:off x="7256145" y="4707890"/>
            <a:ext cx="203835" cy="164147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944745" y="5447030"/>
            <a:ext cx="1592580" cy="366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释放分布式锁</a:t>
            </a:r>
            <a:endParaRPr lang="zh-CN" sz="1600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>
            <a:stCxn id="28" idx="2"/>
            <a:endCxn id="14" idx="0"/>
          </p:cNvCxnSpPr>
          <p:nvPr/>
        </p:nvCxnSpPr>
        <p:spPr>
          <a:xfrm>
            <a:off x="5741035" y="5813425"/>
            <a:ext cx="8890" cy="1619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029835" y="55499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01590" y="600075"/>
            <a:ext cx="15894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用户输入问题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4570730" y="1165225"/>
            <a:ext cx="2576195" cy="4775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92700" y="1275080"/>
            <a:ext cx="1736725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问题重写模块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5857240" y="956310"/>
            <a:ext cx="1905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535170" y="2472690"/>
            <a:ext cx="2611120" cy="278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/>
              <a:t>细节知识检索模块</a:t>
            </a:r>
            <a:endParaRPr lang="zh-CN" altLang="en-US" sz="1600"/>
          </a:p>
        </p:txBody>
      </p:sp>
      <p:sp>
        <p:nvSpPr>
          <p:cNvPr id="26" name="矩形 25"/>
          <p:cNvSpPr/>
          <p:nvPr/>
        </p:nvSpPr>
        <p:spPr>
          <a:xfrm>
            <a:off x="4533265" y="2399030"/>
            <a:ext cx="2630805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532630" y="3002915"/>
            <a:ext cx="2631440" cy="404495"/>
            <a:chOff x="2854" y="4799"/>
            <a:chExt cx="4413" cy="637"/>
          </a:xfrm>
        </p:grpSpPr>
        <p:sp>
          <p:nvSpPr>
            <p:cNvPr id="28" name="矩形 27"/>
            <p:cNvSpPr/>
            <p:nvPr/>
          </p:nvSpPr>
          <p:spPr>
            <a:xfrm>
              <a:off x="2854" y="4799"/>
              <a:ext cx="4413" cy="6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759" y="4854"/>
              <a:ext cx="294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父子检索模块</a:t>
              </a:r>
              <a:endParaRPr lang="zh-CN" altLang="en-US" sz="1600"/>
            </a:p>
          </p:txBody>
        </p:sp>
      </p:grpSp>
      <p:cxnSp>
        <p:nvCxnSpPr>
          <p:cNvPr id="31" name="直接箭头连接符 30"/>
          <p:cNvCxnSpPr>
            <a:stCxn id="26" idx="2"/>
            <a:endCxn id="28" idx="0"/>
          </p:cNvCxnSpPr>
          <p:nvPr/>
        </p:nvCxnSpPr>
        <p:spPr>
          <a:xfrm flipH="1">
            <a:off x="5848350" y="2833370"/>
            <a:ext cx="635" cy="1695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256405" y="1038225"/>
            <a:ext cx="3178175" cy="305816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箭头连接符 44"/>
          <p:cNvCxnSpPr>
            <a:stCxn id="7" idx="2"/>
            <a:endCxn id="2" idx="0"/>
          </p:cNvCxnSpPr>
          <p:nvPr/>
        </p:nvCxnSpPr>
        <p:spPr>
          <a:xfrm flipH="1">
            <a:off x="5848350" y="1642745"/>
            <a:ext cx="10795" cy="1797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4561840" y="3623310"/>
            <a:ext cx="2611755" cy="381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6" name="直接箭头连接符 55"/>
          <p:cNvCxnSpPr/>
          <p:nvPr/>
        </p:nvCxnSpPr>
        <p:spPr>
          <a:xfrm flipH="1">
            <a:off x="5842635" y="2249805"/>
            <a:ext cx="5715" cy="165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4532630" y="1822450"/>
            <a:ext cx="2631440" cy="427355"/>
            <a:chOff x="2741" y="3303"/>
            <a:chExt cx="4144" cy="673"/>
          </a:xfrm>
        </p:grpSpPr>
        <p:sp>
          <p:nvSpPr>
            <p:cNvPr id="24" name="文本框 23"/>
            <p:cNvSpPr txBox="1"/>
            <p:nvPr/>
          </p:nvSpPr>
          <p:spPr>
            <a:xfrm>
              <a:off x="3363" y="3345"/>
              <a:ext cx="285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sz="1600"/>
                <a:t>语义摘要检索模块</a:t>
              </a:r>
              <a:endParaRPr lang="zh-CN" sz="1600"/>
            </a:p>
          </p:txBody>
        </p:sp>
        <p:sp>
          <p:nvSpPr>
            <p:cNvPr id="2" name="矩形 1"/>
            <p:cNvSpPr/>
            <p:nvPr/>
          </p:nvSpPr>
          <p:spPr>
            <a:xfrm>
              <a:off x="2741" y="3303"/>
              <a:ext cx="4144" cy="6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972685" y="3651885"/>
            <a:ext cx="1939925" cy="325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提示词构建模块</a:t>
            </a:r>
            <a:endParaRPr lang="zh-CN" altLang="en-US" sz="1600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5829935" y="3414395"/>
            <a:ext cx="8890" cy="1917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7820025" y="1342390"/>
            <a:ext cx="421005" cy="24631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答案获取可视化模块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744085" y="4387850"/>
            <a:ext cx="2211705" cy="3403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知识库问答引擎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44085" y="4975225"/>
            <a:ext cx="2211705" cy="3403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答案及其来源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744085" y="5509895"/>
            <a:ext cx="2211705" cy="3403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用户反馈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451860" y="1248410"/>
            <a:ext cx="403225" cy="2619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啊</a:t>
            </a:r>
            <a:r>
              <a:rPr lang="zh-CN" altLang="en-US" sz="1600">
                <a:solidFill>
                  <a:schemeClr val="tx1"/>
                </a:solidFill>
              </a:rPr>
              <a:t>业务问答知识库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39" name="直接箭头连接符 38"/>
          <p:cNvCxnSpPr>
            <a:stCxn id="33" idx="2"/>
            <a:endCxn id="27" idx="0"/>
          </p:cNvCxnSpPr>
          <p:nvPr/>
        </p:nvCxnSpPr>
        <p:spPr>
          <a:xfrm>
            <a:off x="5845810" y="4096385"/>
            <a:ext cx="4445" cy="291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7" idx="2"/>
            <a:endCxn id="29" idx="0"/>
          </p:cNvCxnSpPr>
          <p:nvPr/>
        </p:nvCxnSpPr>
        <p:spPr>
          <a:xfrm>
            <a:off x="5850255" y="472821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9" idx="2"/>
            <a:endCxn id="34" idx="0"/>
          </p:cNvCxnSpPr>
          <p:nvPr/>
        </p:nvCxnSpPr>
        <p:spPr>
          <a:xfrm>
            <a:off x="5850255" y="5315585"/>
            <a:ext cx="0" cy="1943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35" idx="3"/>
            <a:endCxn id="33" idx="1"/>
          </p:cNvCxnSpPr>
          <p:nvPr/>
        </p:nvCxnSpPr>
        <p:spPr>
          <a:xfrm>
            <a:off x="3855085" y="2558415"/>
            <a:ext cx="401320" cy="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33" idx="3"/>
            <a:endCxn id="20" idx="1"/>
          </p:cNvCxnSpPr>
          <p:nvPr/>
        </p:nvCxnSpPr>
        <p:spPr>
          <a:xfrm>
            <a:off x="7434580" y="2567305"/>
            <a:ext cx="385445" cy="69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34" idx="2"/>
            <a:endCxn id="35" idx="2"/>
          </p:cNvCxnSpPr>
          <p:nvPr/>
        </p:nvCxnSpPr>
        <p:spPr>
          <a:xfrm rot="5400000" flipH="1">
            <a:off x="3760470" y="3760470"/>
            <a:ext cx="1982470" cy="2196465"/>
          </a:xfrm>
          <a:prstGeom prst="bentConnector3">
            <a:avLst>
              <a:gd name="adj1" fmla="val -11996"/>
            </a:avLst>
          </a:prstGeom>
          <a:ln w="9525" cmpd="sng"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994275" y="30607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-79375" y="1397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文档解析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5313680" y="368935"/>
            <a:ext cx="11068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文档解析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4342765" y="898525"/>
            <a:ext cx="2972435" cy="6521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48810" y="949960"/>
            <a:ext cx="2745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根据源文件的章节</a:t>
            </a:r>
            <a:r>
              <a:rPr lang="en-US" altLang="zh-CN" sz="1600"/>
              <a:t>Head</a:t>
            </a:r>
            <a:r>
              <a:rPr lang="zh-CN" altLang="en-US" sz="1600"/>
              <a:t>标志得到最小层级节点文本信息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5821680" y="707390"/>
            <a:ext cx="7620" cy="191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4251325" y="1833880"/>
            <a:ext cx="3150235" cy="78168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最小层级节点？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15890" y="2515870"/>
            <a:ext cx="441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18" name="矩形 17"/>
          <p:cNvSpPr/>
          <p:nvPr/>
        </p:nvSpPr>
        <p:spPr>
          <a:xfrm>
            <a:off x="2764155" y="2829560"/>
            <a:ext cx="1923415" cy="3314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最小层级生成摘要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748530" y="2797175"/>
            <a:ext cx="2160905" cy="4641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补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获取当前节点的子节点和父节点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7" name="直接箭头连接符 26"/>
          <p:cNvCxnSpPr>
            <a:stCxn id="10" idx="2"/>
            <a:endCxn id="14" idx="0"/>
          </p:cNvCxnSpPr>
          <p:nvPr/>
        </p:nvCxnSpPr>
        <p:spPr>
          <a:xfrm>
            <a:off x="5821680" y="1533525"/>
            <a:ext cx="5080" cy="3003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493260" y="3698875"/>
            <a:ext cx="267081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递归生成各节点文本摘要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1" name="直接箭头连接符 30"/>
          <p:cNvCxnSpPr>
            <a:stCxn id="26" idx="2"/>
            <a:endCxn id="2" idx="0"/>
          </p:cNvCxnSpPr>
          <p:nvPr/>
        </p:nvCxnSpPr>
        <p:spPr>
          <a:xfrm flipH="1">
            <a:off x="5823585" y="3261360"/>
            <a:ext cx="5715" cy="191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747770" y="1894205"/>
            <a:ext cx="33528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cxnSp>
        <p:nvCxnSpPr>
          <p:cNvPr id="42" name="肘形连接符 41"/>
          <p:cNvCxnSpPr>
            <a:stCxn id="14" idx="1"/>
            <a:endCxn id="18" idx="0"/>
          </p:cNvCxnSpPr>
          <p:nvPr/>
        </p:nvCxnSpPr>
        <p:spPr>
          <a:xfrm rot="10800000" flipV="1">
            <a:off x="3726180" y="2225040"/>
            <a:ext cx="525145" cy="60452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流程图: 决策 51"/>
          <p:cNvSpPr/>
          <p:nvPr/>
        </p:nvSpPr>
        <p:spPr>
          <a:xfrm>
            <a:off x="4493260" y="4962525"/>
            <a:ext cx="2670810" cy="60960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文本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tokens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数量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&gt;512?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116830" y="5448300"/>
            <a:ext cx="49022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61" name="矩形 60"/>
          <p:cNvSpPr/>
          <p:nvPr/>
        </p:nvSpPr>
        <p:spPr>
          <a:xfrm>
            <a:off x="2421890" y="1636395"/>
            <a:ext cx="5715635" cy="256476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569835" y="2051050"/>
            <a:ext cx="389890" cy="174752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构建文档树结构摘要</a:t>
            </a:r>
            <a:endParaRPr lang="zh-CN" altLang="en-US" sz="1400"/>
          </a:p>
        </p:txBody>
      </p:sp>
      <p:sp>
        <p:nvSpPr>
          <p:cNvPr id="63" name="矩形 62"/>
          <p:cNvSpPr/>
          <p:nvPr/>
        </p:nvSpPr>
        <p:spPr>
          <a:xfrm>
            <a:off x="2421890" y="4309110"/>
            <a:ext cx="5715000" cy="187896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7543800" y="4599305"/>
            <a:ext cx="394335" cy="13436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划分细节知识块</a:t>
            </a:r>
            <a:endParaRPr lang="zh-CN" altLang="en-US" sz="1400"/>
          </a:p>
        </p:txBody>
      </p:sp>
      <p:cxnSp>
        <p:nvCxnSpPr>
          <p:cNvPr id="65" name="直接箭头连接符 64"/>
          <p:cNvCxnSpPr>
            <a:stCxn id="52" idx="2"/>
            <a:endCxn id="34" idx="0"/>
          </p:cNvCxnSpPr>
          <p:nvPr/>
        </p:nvCxnSpPr>
        <p:spPr>
          <a:xfrm>
            <a:off x="5828665" y="5572125"/>
            <a:ext cx="635" cy="1720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4" idx="2"/>
            <a:endCxn id="26" idx="0"/>
          </p:cNvCxnSpPr>
          <p:nvPr/>
        </p:nvCxnSpPr>
        <p:spPr>
          <a:xfrm>
            <a:off x="5826760" y="2615565"/>
            <a:ext cx="2540" cy="1816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683760" y="4437380"/>
            <a:ext cx="2299335" cy="3771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文本细粒度划分规则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肘形连接符 14"/>
          <p:cNvCxnSpPr>
            <a:stCxn id="18" idx="2"/>
            <a:endCxn id="2" idx="2"/>
          </p:cNvCxnSpPr>
          <p:nvPr/>
        </p:nvCxnSpPr>
        <p:spPr>
          <a:xfrm rot="5400000" flipV="1">
            <a:off x="4565333" y="2321878"/>
            <a:ext cx="346710" cy="20250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2" idx="2"/>
            <a:endCxn id="52" idx="0"/>
          </p:cNvCxnSpPr>
          <p:nvPr/>
        </p:nvCxnSpPr>
        <p:spPr>
          <a:xfrm flipH="1">
            <a:off x="5828665" y="4814570"/>
            <a:ext cx="5080" cy="1479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748530" y="5744210"/>
            <a:ext cx="2160905" cy="346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存储到</a:t>
            </a:r>
            <a:r>
              <a:rPr lang="en-US" altLang="zh-CN" sz="1400">
                <a:solidFill>
                  <a:schemeClr val="tx1"/>
                </a:solidFill>
              </a:rPr>
              <a:t>ES</a:t>
            </a:r>
            <a:r>
              <a:rPr lang="zh-CN" altLang="en-US" sz="1400">
                <a:solidFill>
                  <a:schemeClr val="tx1"/>
                </a:solidFill>
              </a:rPr>
              <a:t>和</a:t>
            </a:r>
            <a:r>
              <a:rPr lang="en-US" altLang="zh-CN" sz="1400">
                <a:solidFill>
                  <a:schemeClr val="tx1"/>
                </a:solidFill>
              </a:rPr>
              <a:t>Minio</a:t>
            </a:r>
            <a:r>
              <a:rPr lang="zh-CN" altLang="en-US" sz="1400">
                <a:solidFill>
                  <a:schemeClr val="tx1"/>
                </a:solidFill>
              </a:rPr>
              <a:t>数据库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52" idx="3"/>
            <a:endCxn id="12" idx="3"/>
          </p:cNvCxnSpPr>
          <p:nvPr/>
        </p:nvCxnSpPr>
        <p:spPr>
          <a:xfrm flipH="1" flipV="1">
            <a:off x="6983095" y="4625975"/>
            <a:ext cx="180975" cy="641350"/>
          </a:xfrm>
          <a:prstGeom prst="bentConnector3">
            <a:avLst>
              <a:gd name="adj1" fmla="val -13157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28" idx="3"/>
            <a:endCxn id="34" idx="3"/>
          </p:cNvCxnSpPr>
          <p:nvPr/>
        </p:nvCxnSpPr>
        <p:spPr>
          <a:xfrm flipH="1">
            <a:off x="6909435" y="3883025"/>
            <a:ext cx="254635" cy="2034540"/>
          </a:xfrm>
          <a:prstGeom prst="bentConnector3">
            <a:avLst>
              <a:gd name="adj1" fmla="val -111471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922770" y="4934585"/>
            <a:ext cx="49022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sp>
        <p:nvSpPr>
          <p:cNvPr id="2" name="流程图: 或者 1"/>
          <p:cNvSpPr/>
          <p:nvPr/>
        </p:nvSpPr>
        <p:spPr>
          <a:xfrm>
            <a:off x="5751195" y="3452495"/>
            <a:ext cx="144780" cy="10985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  <a:endCxn id="28" idx="0"/>
          </p:cNvCxnSpPr>
          <p:nvPr/>
        </p:nvCxnSpPr>
        <p:spPr>
          <a:xfrm>
            <a:off x="5823585" y="3562350"/>
            <a:ext cx="5080" cy="136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10800000" flipH="1" flipV="1">
            <a:off x="4251325" y="2225040"/>
            <a:ext cx="432435" cy="2400935"/>
          </a:xfrm>
          <a:prstGeom prst="bentConnector3">
            <a:avLst>
              <a:gd name="adj1" fmla="val -36211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47565" y="54610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8315" y="30353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问题重写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4984750" y="591185"/>
            <a:ext cx="11068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用户提问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4004945" y="1156335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15130" y="1225550"/>
            <a:ext cx="2745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调用大模型判断问题完整性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5474970" y="947420"/>
            <a:ext cx="762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14" idx="0"/>
          </p:cNvCxnSpPr>
          <p:nvPr/>
        </p:nvCxnSpPr>
        <p:spPr>
          <a:xfrm>
            <a:off x="5482590" y="1679575"/>
            <a:ext cx="3810" cy="204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4315460" y="1884045"/>
            <a:ext cx="2341880" cy="70231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sz="1600">
                <a:solidFill>
                  <a:schemeClr val="tx1"/>
                </a:solidFill>
                <a:sym typeface="+mn-ea"/>
              </a:rPr>
              <a:t>用户问题是否完整？</a:t>
            </a:r>
            <a:endParaRPr 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05580" y="2999105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根据历史对话记录和当前问题补全用户问题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1" name="直接箭头连接符 20"/>
          <p:cNvCxnSpPr>
            <a:stCxn id="14" idx="2"/>
            <a:endCxn id="18" idx="0"/>
          </p:cNvCxnSpPr>
          <p:nvPr/>
        </p:nvCxnSpPr>
        <p:spPr>
          <a:xfrm flipH="1">
            <a:off x="5483225" y="2586355"/>
            <a:ext cx="3175" cy="4127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113020" y="2632710"/>
            <a:ext cx="422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26" name="矩形 25"/>
          <p:cNvSpPr/>
          <p:nvPr/>
        </p:nvSpPr>
        <p:spPr>
          <a:xfrm>
            <a:off x="4004310" y="3688080"/>
            <a:ext cx="2973070" cy="5391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关键槽位信息映射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5483225" y="3522345"/>
            <a:ext cx="7620" cy="165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6" idx="2"/>
            <a:endCxn id="28" idx="0"/>
          </p:cNvCxnSpPr>
          <p:nvPr/>
        </p:nvCxnSpPr>
        <p:spPr>
          <a:xfrm>
            <a:off x="5490845" y="4227195"/>
            <a:ext cx="635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14" idx="3"/>
            <a:endCxn id="57" idx="3"/>
          </p:cNvCxnSpPr>
          <p:nvPr/>
        </p:nvCxnSpPr>
        <p:spPr>
          <a:xfrm flipH="1">
            <a:off x="6532880" y="2235200"/>
            <a:ext cx="124460" cy="3407410"/>
          </a:xfrm>
          <a:prstGeom prst="bentConnector3">
            <a:avLst>
              <a:gd name="adj1" fmla="val -50051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6497955" y="1884045"/>
            <a:ext cx="55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cxnSp>
        <p:nvCxnSpPr>
          <p:cNvPr id="42" name="肘形连接符 41"/>
          <p:cNvCxnSpPr>
            <a:stCxn id="2" idx="1"/>
            <a:endCxn id="7" idx="1"/>
          </p:cNvCxnSpPr>
          <p:nvPr/>
        </p:nvCxnSpPr>
        <p:spPr>
          <a:xfrm rot="10800000">
            <a:off x="4004945" y="1417955"/>
            <a:ext cx="100330" cy="3366135"/>
          </a:xfrm>
          <a:prstGeom prst="bentConnector3">
            <a:avLst>
              <a:gd name="adj1" fmla="val 33734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431030" y="5479415"/>
            <a:ext cx="2101850" cy="3263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完整用户问题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65" name="直接箭头连接符 64"/>
          <p:cNvCxnSpPr>
            <a:stCxn id="2" idx="2"/>
            <a:endCxn id="57" idx="0"/>
          </p:cNvCxnSpPr>
          <p:nvPr/>
        </p:nvCxnSpPr>
        <p:spPr>
          <a:xfrm>
            <a:off x="5481320" y="5131435"/>
            <a:ext cx="635" cy="347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流程图: 决策 1"/>
          <p:cNvSpPr/>
          <p:nvPr/>
        </p:nvSpPr>
        <p:spPr>
          <a:xfrm>
            <a:off x="4105275" y="4436110"/>
            <a:ext cx="2752090" cy="69532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满足以基本槽位信息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28415" y="4477385"/>
            <a:ext cx="3867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4984750" y="5131435"/>
            <a:ext cx="476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74235" y="979805"/>
            <a:ext cx="1654810" cy="3384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sym typeface="+mn-ea"/>
              </a:rPr>
              <a:t>双检索通道</a:t>
            </a: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4130" y="38608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双通道检索</a:t>
            </a:r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4004945" y="1552575"/>
            <a:ext cx="2983230" cy="3219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用户问题进行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HanLP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分词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 flipH="1">
            <a:off x="5496560" y="1318260"/>
            <a:ext cx="5080" cy="2343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342130" y="3462020"/>
            <a:ext cx="2434590" cy="3670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重排序模型再次计算得分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43400" y="4009390"/>
            <a:ext cx="2433955" cy="3409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检索结果进行父子融合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5559425" y="3829050"/>
            <a:ext cx="1270" cy="1803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6" idx="2"/>
            <a:endCxn id="57" idx="0"/>
          </p:cNvCxnSpPr>
          <p:nvPr/>
        </p:nvCxnSpPr>
        <p:spPr>
          <a:xfrm flipH="1">
            <a:off x="5556250" y="4350385"/>
            <a:ext cx="4445" cy="196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151630" y="4546600"/>
            <a:ext cx="2809240" cy="4279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计算语义摘要下所有细节相似度的均分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83940" y="2216150"/>
            <a:ext cx="1701800" cy="3498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语义摘要检索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08015" y="2219325"/>
            <a:ext cx="1764665" cy="333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细节知识检索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肘形连接符 14"/>
          <p:cNvCxnSpPr>
            <a:stCxn id="7" idx="2"/>
            <a:endCxn id="12" idx="0"/>
          </p:cNvCxnSpPr>
          <p:nvPr/>
        </p:nvCxnSpPr>
        <p:spPr>
          <a:xfrm rot="5400000" flipV="1">
            <a:off x="5871210" y="1499870"/>
            <a:ext cx="344805" cy="1094105"/>
          </a:xfrm>
          <a:prstGeom prst="bentConnector3">
            <a:avLst>
              <a:gd name="adj1" fmla="val 5009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8" idx="0"/>
          </p:cNvCxnSpPr>
          <p:nvPr/>
        </p:nvCxnSpPr>
        <p:spPr>
          <a:xfrm rot="10800000" flipV="1">
            <a:off x="4434205" y="2047240"/>
            <a:ext cx="1067435" cy="1689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458970" y="2905760"/>
            <a:ext cx="2198370" cy="3581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向量检索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关键词匹配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0" name="肘形连接符 19"/>
          <p:cNvCxnSpPr>
            <a:stCxn id="8" idx="2"/>
            <a:endCxn id="19" idx="0"/>
          </p:cNvCxnSpPr>
          <p:nvPr/>
        </p:nvCxnSpPr>
        <p:spPr>
          <a:xfrm rot="5400000" flipV="1">
            <a:off x="4826635" y="2174240"/>
            <a:ext cx="339725" cy="1123315"/>
          </a:xfrm>
          <a:prstGeom prst="bentConnector3">
            <a:avLst>
              <a:gd name="adj1" fmla="val 5009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2" idx="2"/>
            <a:endCxn id="19" idx="0"/>
          </p:cNvCxnSpPr>
          <p:nvPr/>
        </p:nvCxnSpPr>
        <p:spPr>
          <a:xfrm rot="5400000">
            <a:off x="5897880" y="2212975"/>
            <a:ext cx="353060" cy="1032510"/>
          </a:xfrm>
          <a:prstGeom prst="bentConnector3">
            <a:avLst>
              <a:gd name="adj1" fmla="val 5251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9" idx="2"/>
            <a:endCxn id="18" idx="0"/>
          </p:cNvCxnSpPr>
          <p:nvPr/>
        </p:nvCxnSpPr>
        <p:spPr>
          <a:xfrm>
            <a:off x="5558155" y="3263900"/>
            <a:ext cx="1270" cy="198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112260" y="5148580"/>
            <a:ext cx="2882265" cy="3321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筛选得分低于指定阈值的文档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57" idx="2"/>
            <a:endCxn id="28" idx="0"/>
          </p:cNvCxnSpPr>
          <p:nvPr/>
        </p:nvCxnSpPr>
        <p:spPr>
          <a:xfrm flipH="1">
            <a:off x="5553710" y="4974590"/>
            <a:ext cx="2540" cy="1739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56455" y="741680"/>
            <a:ext cx="1654810" cy="37465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sym typeface="+mn-ea"/>
              </a:rPr>
              <a:t>父子检索模块</a:t>
            </a: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1395" y="386080"/>
            <a:ext cx="2057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父子匹配融合</a:t>
            </a:r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4004945" y="1318260"/>
            <a:ext cx="2955290" cy="4044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双检索返回结果查询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列表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 flipH="1">
            <a:off x="5482590" y="1116330"/>
            <a:ext cx="1270" cy="201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006215" y="3368675"/>
            <a:ext cx="2954020" cy="3314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语义摘要作为根节点下的内容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006215" y="3876040"/>
            <a:ext cx="2953385" cy="4864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细粒度文档作为语义摘要的叶子节点内容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5483225" y="3700145"/>
            <a:ext cx="0" cy="1758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6" idx="2"/>
            <a:endCxn id="57" idx="0"/>
          </p:cNvCxnSpPr>
          <p:nvPr/>
        </p:nvCxnSpPr>
        <p:spPr>
          <a:xfrm>
            <a:off x="5483225" y="4362450"/>
            <a:ext cx="5080" cy="2051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004945" y="1893570"/>
            <a:ext cx="2955925" cy="5168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相同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的语义摘要和细节知识块归类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005580" y="2593340"/>
            <a:ext cx="2955290" cy="517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同一个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文档，文档的标题名称作为根节点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5" name="直接箭头连接符 24"/>
          <p:cNvCxnSpPr>
            <a:stCxn id="19" idx="2"/>
            <a:endCxn id="18" idx="0"/>
          </p:cNvCxnSpPr>
          <p:nvPr/>
        </p:nvCxnSpPr>
        <p:spPr>
          <a:xfrm>
            <a:off x="5483225" y="3110865"/>
            <a:ext cx="0" cy="257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2" idx="2"/>
            <a:endCxn id="19" idx="0"/>
          </p:cNvCxnSpPr>
          <p:nvPr/>
        </p:nvCxnSpPr>
        <p:spPr>
          <a:xfrm>
            <a:off x="5483225" y="2410460"/>
            <a:ext cx="0" cy="18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7" idx="2"/>
            <a:endCxn id="12" idx="0"/>
          </p:cNvCxnSpPr>
          <p:nvPr/>
        </p:nvCxnSpPr>
        <p:spPr>
          <a:xfrm>
            <a:off x="5482590" y="1722755"/>
            <a:ext cx="635" cy="170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907155" y="4568190"/>
            <a:ext cx="3163570" cy="3314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组织为层次结构的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JSON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文档信息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56455" y="741680"/>
            <a:ext cx="1654810" cy="37465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sym typeface="+mn-ea"/>
              </a:rPr>
              <a:t>提示词模块</a:t>
            </a: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1395" y="386080"/>
            <a:ext cx="2057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提示词模块</a:t>
            </a:r>
            <a:endParaRPr lang="zh-CN" altLang="en-US" sz="24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 flipH="1">
            <a:off x="5482590" y="1116330"/>
            <a:ext cx="1270" cy="220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843655" y="2265680"/>
            <a:ext cx="3291840" cy="3511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根据检索返回的文档结构进行回复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136390" y="2830830"/>
            <a:ext cx="2705100" cy="3130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回答结束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26" idx="2"/>
            <a:endCxn id="6" idx="0"/>
          </p:cNvCxnSpPr>
          <p:nvPr/>
        </p:nvCxnSpPr>
        <p:spPr>
          <a:xfrm flipH="1">
            <a:off x="5486400" y="3143885"/>
            <a:ext cx="2540" cy="2127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" idx="2"/>
            <a:endCxn id="18" idx="0"/>
          </p:cNvCxnSpPr>
          <p:nvPr/>
        </p:nvCxnSpPr>
        <p:spPr>
          <a:xfrm>
            <a:off x="5480685" y="1986915"/>
            <a:ext cx="8890" cy="278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391660" y="3356610"/>
            <a:ext cx="2188845" cy="2813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用户反馈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流程图: 决策 1"/>
          <p:cNvSpPr/>
          <p:nvPr/>
        </p:nvSpPr>
        <p:spPr>
          <a:xfrm>
            <a:off x="4500245" y="1337310"/>
            <a:ext cx="1960245" cy="649605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检索到知识块？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8" name="肘形连接符 7"/>
          <p:cNvCxnSpPr>
            <a:stCxn id="2" idx="3"/>
            <a:endCxn id="14" idx="0"/>
          </p:cNvCxnSpPr>
          <p:nvPr/>
        </p:nvCxnSpPr>
        <p:spPr>
          <a:xfrm>
            <a:off x="6460490" y="1662430"/>
            <a:ext cx="2007870" cy="6032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163185" y="1979930"/>
            <a:ext cx="29400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是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0640" y="1393825"/>
            <a:ext cx="29146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否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" name="直接箭头连接符 12"/>
          <p:cNvCxnSpPr>
            <a:stCxn id="18" idx="2"/>
            <a:endCxn id="26" idx="0"/>
          </p:cNvCxnSpPr>
          <p:nvPr/>
        </p:nvCxnSpPr>
        <p:spPr>
          <a:xfrm flipH="1">
            <a:off x="5488940" y="2616835"/>
            <a:ext cx="635" cy="2139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291705" y="2265680"/>
            <a:ext cx="2353310" cy="3517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返回检索不到相关信息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”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肘形连接符 14"/>
          <p:cNvCxnSpPr>
            <a:stCxn id="14" idx="2"/>
            <a:endCxn id="26" idx="3"/>
          </p:cNvCxnSpPr>
          <p:nvPr/>
        </p:nvCxnSpPr>
        <p:spPr>
          <a:xfrm rot="5400000">
            <a:off x="7469823" y="1989138"/>
            <a:ext cx="370205" cy="162687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391660" y="3807460"/>
            <a:ext cx="2188845" cy="2813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管理员进一步处理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" name="直接箭头连接符 16"/>
          <p:cNvCxnSpPr>
            <a:stCxn id="6" idx="2"/>
            <a:endCxn id="16" idx="0"/>
          </p:cNvCxnSpPr>
          <p:nvPr/>
        </p:nvCxnSpPr>
        <p:spPr>
          <a:xfrm>
            <a:off x="5486400" y="3637915"/>
            <a:ext cx="0" cy="1695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2282825" y="54610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576820" y="30353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引导式提问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2620010" y="591185"/>
            <a:ext cx="11068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用户提问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1640205" y="1156335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850390" y="1225550"/>
            <a:ext cx="2745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检索财务（指标）数据库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3110230" y="947420"/>
            <a:ext cx="762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14" idx="0"/>
          </p:cNvCxnSpPr>
          <p:nvPr/>
        </p:nvCxnSpPr>
        <p:spPr>
          <a:xfrm>
            <a:off x="3117850" y="1679575"/>
            <a:ext cx="4445" cy="259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1489710" y="1939290"/>
            <a:ext cx="3265170" cy="87312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063750" y="2205355"/>
            <a:ext cx="2437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检索工作表</a:t>
            </a:r>
            <a:r>
              <a:rPr lang="en-US" altLang="zh-CN" sz="1600"/>
              <a:t>sheet≥1?</a:t>
            </a:r>
            <a:endParaRPr lang="en-US" altLang="zh-CN" sz="1600"/>
          </a:p>
        </p:txBody>
      </p:sp>
      <p:grpSp>
        <p:nvGrpSpPr>
          <p:cNvPr id="19" name="组合 18"/>
          <p:cNvGrpSpPr/>
          <p:nvPr/>
        </p:nvGrpSpPr>
        <p:grpSpPr>
          <a:xfrm>
            <a:off x="923290" y="3185160"/>
            <a:ext cx="3679190" cy="1873250"/>
            <a:chOff x="1128" y="6435"/>
            <a:chExt cx="5794" cy="2950"/>
          </a:xfrm>
        </p:grpSpPr>
        <p:sp>
          <p:nvSpPr>
            <p:cNvPr id="17" name="文本框 16"/>
            <p:cNvSpPr txBox="1"/>
            <p:nvPr/>
          </p:nvSpPr>
          <p:spPr>
            <a:xfrm>
              <a:off x="1128" y="6557"/>
              <a:ext cx="570" cy="28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/>
                <a:t>澄清用户问题</a:t>
              </a:r>
              <a:endParaRPr lang="zh-CN" altLang="en-US" sz="14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2268" y="6435"/>
              <a:ext cx="4654" cy="8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箭头连接符 20"/>
          <p:cNvCxnSpPr>
            <a:stCxn id="14" idx="2"/>
            <a:endCxn id="18" idx="0"/>
          </p:cNvCxnSpPr>
          <p:nvPr/>
        </p:nvCxnSpPr>
        <p:spPr>
          <a:xfrm>
            <a:off x="3122295" y="2812415"/>
            <a:ext cx="2540" cy="3727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562860" y="2755265"/>
            <a:ext cx="552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No</a:t>
            </a:r>
            <a:endParaRPr lang="en-US" altLang="zh-CN" sz="1400"/>
          </a:p>
        </p:txBody>
      </p:sp>
      <p:sp>
        <p:nvSpPr>
          <p:cNvPr id="24" name="文本框 23"/>
          <p:cNvSpPr txBox="1"/>
          <p:nvPr/>
        </p:nvSpPr>
        <p:spPr>
          <a:xfrm>
            <a:off x="2562860" y="3262630"/>
            <a:ext cx="1729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提示模板</a:t>
            </a:r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25" name="文本框 24"/>
          <p:cNvSpPr txBox="1"/>
          <p:nvPr/>
        </p:nvSpPr>
        <p:spPr>
          <a:xfrm>
            <a:off x="1664335" y="3925570"/>
            <a:ext cx="2779395" cy="454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/>
              <a:t>补充信息：目标对象、具体时间、公司名称</a:t>
            </a:r>
            <a:endParaRPr lang="zh-CN" altLang="en-US" sz="1600"/>
          </a:p>
        </p:txBody>
      </p:sp>
      <p:sp>
        <p:nvSpPr>
          <p:cNvPr id="26" name="矩形 25"/>
          <p:cNvSpPr/>
          <p:nvPr/>
        </p:nvSpPr>
        <p:spPr>
          <a:xfrm>
            <a:off x="1639570" y="3957320"/>
            <a:ext cx="2973070" cy="5391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3124835" y="3708400"/>
            <a:ext cx="1270" cy="2489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654810" y="4705350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988820" y="4791075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根据完整查询重新检索</a:t>
            </a:r>
            <a:endParaRPr lang="zh-CN" altLang="en-US" sz="1600"/>
          </a:p>
        </p:txBody>
      </p:sp>
      <p:cxnSp>
        <p:nvCxnSpPr>
          <p:cNvPr id="31" name="直接箭头连接符 30"/>
          <p:cNvCxnSpPr>
            <a:stCxn id="26" idx="2"/>
            <a:endCxn id="28" idx="0"/>
          </p:cNvCxnSpPr>
          <p:nvPr/>
        </p:nvCxnSpPr>
        <p:spPr>
          <a:xfrm>
            <a:off x="3126105" y="4496435"/>
            <a:ext cx="635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94715" y="3055620"/>
            <a:ext cx="4031615" cy="22663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233160" y="2586355"/>
            <a:ext cx="4243705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肘形连接符 34"/>
          <p:cNvCxnSpPr>
            <a:stCxn id="14" idx="3"/>
            <a:endCxn id="33" idx="0"/>
          </p:cNvCxnSpPr>
          <p:nvPr/>
        </p:nvCxnSpPr>
        <p:spPr>
          <a:xfrm>
            <a:off x="4754880" y="2376170"/>
            <a:ext cx="3600450" cy="2101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966335" y="2434590"/>
            <a:ext cx="55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Yes</a:t>
            </a:r>
            <a:endParaRPr lang="en-US" altLang="zh-CN" sz="1400"/>
          </a:p>
        </p:txBody>
      </p:sp>
      <p:sp>
        <p:nvSpPr>
          <p:cNvPr id="40" name="文本框 39"/>
          <p:cNvSpPr txBox="1"/>
          <p:nvPr/>
        </p:nvSpPr>
        <p:spPr>
          <a:xfrm>
            <a:off x="6195695" y="2659380"/>
            <a:ext cx="2763520" cy="387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计算工作表检索得分绝对偏差率</a:t>
            </a:r>
            <a:endParaRPr lang="zh-CN" altLang="en-US" sz="1400"/>
          </a:p>
          <a:p>
            <a:pPr algn="ctr"/>
            <a:endParaRPr lang="zh-CN" altLang="en-US" sz="1400"/>
          </a:p>
        </p:txBody>
      </p: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940165" y="2649855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536700" imgH="419100" progId="Equation.KSEE3">
                  <p:embed/>
                </p:oleObj>
              </mc:Choice>
              <mc:Fallback>
                <p:oleObj name="" r:id="rId1" imgW="1536700" imgH="419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40165" y="2649855"/>
                        <a:ext cx="153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肘形连接符 41"/>
          <p:cNvCxnSpPr>
            <a:stCxn id="28" idx="1"/>
            <a:endCxn id="7" idx="1"/>
          </p:cNvCxnSpPr>
          <p:nvPr/>
        </p:nvCxnSpPr>
        <p:spPr>
          <a:xfrm rot="10800000">
            <a:off x="1640205" y="1417955"/>
            <a:ext cx="14605" cy="3549015"/>
          </a:xfrm>
          <a:prstGeom prst="bentConnector3">
            <a:avLst>
              <a:gd name="adj1" fmla="val 173043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3" idx="2"/>
            <a:endCxn id="43" idx="0"/>
          </p:cNvCxnSpPr>
          <p:nvPr/>
        </p:nvCxnSpPr>
        <p:spPr>
          <a:xfrm flipH="1">
            <a:off x="8348980" y="3109595"/>
            <a:ext cx="6350" cy="3028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762115" y="3452495"/>
            <a:ext cx="3141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筛选得分高的工作表及得分</a:t>
            </a:r>
            <a:r>
              <a:rPr lang="en-US" altLang="zh-CN" sz="1400" i="1">
                <a:latin typeface="Times New Roman" panose="02020603050405020304" charset="0"/>
                <a:cs typeface="Times New Roman" panose="02020603050405020304" charset="0"/>
              </a:rPr>
              <a:t>score</a:t>
            </a:r>
            <a:endParaRPr lang="en-US" altLang="zh-CN" sz="14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7" name="直接箭头连接符 46"/>
          <p:cNvCxnSpPr>
            <a:stCxn id="48" idx="2"/>
            <a:endCxn id="52" idx="0"/>
          </p:cNvCxnSpPr>
          <p:nvPr/>
        </p:nvCxnSpPr>
        <p:spPr>
          <a:xfrm>
            <a:off x="8355330" y="3838575"/>
            <a:ext cx="5715" cy="2895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6761480" y="3412490"/>
            <a:ext cx="3187065" cy="4260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991350" y="5791835"/>
            <a:ext cx="2719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调用微服务接口返回数据集内容</a:t>
            </a:r>
            <a:endParaRPr lang="zh-CN" altLang="en-US" sz="1400"/>
          </a:p>
        </p:txBody>
      </p:sp>
      <p:sp>
        <p:nvSpPr>
          <p:cNvPr id="51" name="文本框 50"/>
          <p:cNvSpPr txBox="1"/>
          <p:nvPr/>
        </p:nvSpPr>
        <p:spPr>
          <a:xfrm>
            <a:off x="7576820" y="4227195"/>
            <a:ext cx="17056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工作表个数＞</a:t>
            </a:r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52" name="流程图: 决策 51"/>
          <p:cNvSpPr/>
          <p:nvPr/>
        </p:nvSpPr>
        <p:spPr>
          <a:xfrm>
            <a:off x="7098665" y="4128135"/>
            <a:ext cx="2524760" cy="55499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3" name="肘形连接符 52"/>
          <p:cNvCxnSpPr>
            <a:stCxn id="52" idx="3"/>
            <a:endCxn id="60" idx="3"/>
          </p:cNvCxnSpPr>
          <p:nvPr/>
        </p:nvCxnSpPr>
        <p:spPr>
          <a:xfrm flipH="1">
            <a:off x="9604375" y="4405630"/>
            <a:ext cx="19050" cy="1530985"/>
          </a:xfrm>
          <a:prstGeom prst="bentConnector3">
            <a:avLst>
              <a:gd name="adj1" fmla="val -12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9924415" y="4319905"/>
            <a:ext cx="552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No</a:t>
            </a:r>
            <a:endParaRPr lang="en-US" altLang="zh-CN" sz="1400"/>
          </a:p>
        </p:txBody>
      </p:sp>
      <p:sp>
        <p:nvSpPr>
          <p:cNvPr id="55" name="文本框 54"/>
          <p:cNvSpPr txBox="1"/>
          <p:nvPr/>
        </p:nvSpPr>
        <p:spPr>
          <a:xfrm>
            <a:off x="7777480" y="4626610"/>
            <a:ext cx="49022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Yes</a:t>
            </a:r>
            <a:endParaRPr lang="en-US" altLang="zh-CN" sz="1400"/>
          </a:p>
        </p:txBody>
      </p:sp>
      <p:cxnSp>
        <p:nvCxnSpPr>
          <p:cNvPr id="56" name="直接箭头连接符 55"/>
          <p:cNvCxnSpPr/>
          <p:nvPr/>
        </p:nvCxnSpPr>
        <p:spPr>
          <a:xfrm flipH="1">
            <a:off x="8336280" y="4683125"/>
            <a:ext cx="5715" cy="2203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7183755" y="4919345"/>
            <a:ext cx="2295525" cy="4997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7229475" y="4973320"/>
            <a:ext cx="2210435" cy="407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前端提示返回筛选后的工作表，要求用户确认具体查询工作表</a:t>
            </a:r>
            <a:endParaRPr lang="zh-CN" altLang="en-US" sz="1200"/>
          </a:p>
        </p:txBody>
      </p:sp>
      <p:sp>
        <p:nvSpPr>
          <p:cNvPr id="60" name="流程图: 可选过程 59"/>
          <p:cNvSpPr/>
          <p:nvPr/>
        </p:nvSpPr>
        <p:spPr>
          <a:xfrm>
            <a:off x="7079615" y="5734685"/>
            <a:ext cx="2524760" cy="40386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5525770" y="2002790"/>
            <a:ext cx="5199380" cy="195389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5801360" y="2446020"/>
            <a:ext cx="394335" cy="13436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筛选高分工作表</a:t>
            </a:r>
            <a:endParaRPr lang="zh-CN" altLang="en-US" sz="1400"/>
          </a:p>
        </p:txBody>
      </p:sp>
      <p:sp>
        <p:nvSpPr>
          <p:cNvPr id="63" name="矩形 62"/>
          <p:cNvSpPr/>
          <p:nvPr/>
        </p:nvSpPr>
        <p:spPr>
          <a:xfrm>
            <a:off x="5525770" y="4020820"/>
            <a:ext cx="5199380" cy="151447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796915" y="4128135"/>
            <a:ext cx="394335" cy="13436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明确具体工作表</a:t>
            </a:r>
            <a:endParaRPr lang="zh-CN" altLang="en-US" sz="1400"/>
          </a:p>
        </p:txBody>
      </p:sp>
      <p:cxnSp>
        <p:nvCxnSpPr>
          <p:cNvPr id="65" name="直接箭头连接符 64"/>
          <p:cNvCxnSpPr>
            <a:stCxn id="57" idx="2"/>
            <a:endCxn id="60" idx="0"/>
          </p:cNvCxnSpPr>
          <p:nvPr/>
        </p:nvCxnSpPr>
        <p:spPr>
          <a:xfrm>
            <a:off x="8331835" y="5419090"/>
            <a:ext cx="10160" cy="3155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895475" y="157607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sheet_name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95475" y="2417445"/>
            <a:ext cx="1447800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row_name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44075" y="254571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query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00700" y="188849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keywords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43550" y="332994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vector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" name="肘形连接符 8"/>
          <p:cNvCxnSpPr>
            <a:stCxn id="6" idx="1"/>
            <a:endCxn id="7" idx="3"/>
          </p:cNvCxnSpPr>
          <p:nvPr/>
        </p:nvCxnSpPr>
        <p:spPr>
          <a:xfrm rot="10800000">
            <a:off x="7048500" y="2069465"/>
            <a:ext cx="2695575" cy="657225"/>
          </a:xfrm>
          <a:prstGeom prst="bentConnector3">
            <a:avLst>
              <a:gd name="adj1" fmla="val 55288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左右箭头 10"/>
          <p:cNvSpPr/>
          <p:nvPr/>
        </p:nvSpPr>
        <p:spPr>
          <a:xfrm>
            <a:off x="4486275" y="2026920"/>
            <a:ext cx="819150" cy="161925"/>
          </a:xfrm>
          <a:prstGeom prst="left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肘形连接符 12"/>
          <p:cNvCxnSpPr/>
          <p:nvPr/>
        </p:nvCxnSpPr>
        <p:spPr>
          <a:xfrm rot="10800000" flipV="1">
            <a:off x="7009765" y="2726055"/>
            <a:ext cx="2498725" cy="763905"/>
          </a:xfrm>
          <a:prstGeom prst="bentConnector3">
            <a:avLst>
              <a:gd name="adj1" fmla="val 4998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677535" y="132207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文本召回，</a:t>
            </a:r>
            <a:r>
              <a:rPr lang="en-US" altLang="zh-CN"/>
              <a:t>size=100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677535" y="2844165"/>
            <a:ext cx="2416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向量召回，</a:t>
            </a:r>
            <a:r>
              <a:rPr lang="en-US" altLang="zh-CN"/>
              <a:t> size=100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1425575" y="3430270"/>
            <a:ext cx="2822575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row_name_embeded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9" name="左右箭头 18"/>
          <p:cNvSpPr/>
          <p:nvPr/>
        </p:nvSpPr>
        <p:spPr>
          <a:xfrm>
            <a:off x="4486275" y="3430270"/>
            <a:ext cx="819150" cy="161925"/>
          </a:xfrm>
          <a:prstGeom prst="left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629150" y="1658620"/>
            <a:ext cx="971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9150" y="2995295"/>
            <a:ext cx="75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400300" y="4994910"/>
            <a:ext cx="763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</a:t>
            </a:r>
            <a:r>
              <a:rPr lang="en-US" altLang="zh-CN"/>
              <a:t>+</a:t>
            </a:r>
            <a:r>
              <a:rPr lang="zh-CN" altLang="en-US"/>
              <a:t>向量召回</a:t>
            </a:r>
            <a:r>
              <a:rPr lang="en-US" altLang="zh-CN"/>
              <a:t>   </a:t>
            </a:r>
            <a:r>
              <a:rPr lang="zh-CN" altLang="en-US"/>
              <a:t>合并总计可能</a:t>
            </a:r>
            <a:r>
              <a:rPr lang="en-US" altLang="zh-CN"/>
              <a:t>&gt;100,</a:t>
            </a:r>
            <a:r>
              <a:rPr lang="zh-CN" altLang="en-US"/>
              <a:t>最后取</a:t>
            </a:r>
            <a:r>
              <a:rPr lang="en-US" altLang="zh-CN"/>
              <a:t>score</a:t>
            </a:r>
            <a:r>
              <a:rPr lang="zh-CN" altLang="en-US"/>
              <a:t>得分最高的前</a:t>
            </a:r>
            <a:r>
              <a:rPr lang="en-US" altLang="zh-CN"/>
              <a:t>10</a:t>
            </a:r>
            <a:r>
              <a:rPr lang="zh-CN" altLang="en-US"/>
              <a:t>条数据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47750" y="902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、行名称检索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340725" y="2358390"/>
            <a:ext cx="1695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根据行名称</a:t>
            </a:r>
            <a:endParaRPr lang="zh-CN" altLang="en-US"/>
          </a:p>
        </p:txBody>
      </p:sp>
      <p:sp>
        <p:nvSpPr>
          <p:cNvPr id="25" name="加号 24"/>
          <p:cNvSpPr/>
          <p:nvPr/>
        </p:nvSpPr>
        <p:spPr>
          <a:xfrm>
            <a:off x="3171825" y="1938020"/>
            <a:ext cx="534035" cy="479425"/>
          </a:xfrm>
          <a:prstGeom prst="math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大括号 25"/>
          <p:cNvSpPr/>
          <p:nvPr/>
        </p:nvSpPr>
        <p:spPr>
          <a:xfrm>
            <a:off x="3733800" y="1690370"/>
            <a:ext cx="224155" cy="10096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400300" y="5598795"/>
            <a:ext cx="714756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返回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company_name,sheet_name,data_month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+row_name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218690" y="5180965"/>
            <a:ext cx="714756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返回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company_name,sheet_name,data_month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+column_name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3150" y="2165350"/>
            <a:ext cx="584581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筛选重复</a:t>
            </a:r>
            <a:r>
              <a:rPr lang="en-US" altLang="zh-CN">
                <a:solidFill>
                  <a:schemeClr val="tx1"/>
                </a:solidFill>
              </a:rPr>
              <a:t>company_name,sheet_name,data_month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43150" y="2830830"/>
            <a:ext cx="584581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无重复</a:t>
            </a:r>
            <a:r>
              <a:rPr lang="en-US" altLang="zh-CN">
                <a:solidFill>
                  <a:schemeClr val="tx1"/>
                </a:solidFill>
              </a:rPr>
              <a:t>company_name,sheet_name,data_month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6275" y="3850005"/>
            <a:ext cx="4295775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342900" indent="-342900" algn="ctr">
              <a:buFont typeface="+mj-lt"/>
              <a:buAutoNum type="alphaUcPeriod"/>
            </a:pPr>
            <a:r>
              <a:rPr lang="en-US" altLang="zh-CN">
                <a:solidFill>
                  <a:schemeClr val="tx1"/>
                </a:solidFill>
              </a:rPr>
              <a:t>company,sheet,date</a:t>
            </a:r>
            <a:r>
              <a:rPr lang="zh-CN" altLang="en-US">
                <a:solidFill>
                  <a:schemeClr val="tx1"/>
                </a:solidFill>
              </a:rPr>
              <a:t>作为过滤条件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96310" y="1493520"/>
            <a:ext cx="419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行检索召回，数据个数</a:t>
            </a:r>
            <a:r>
              <a:rPr lang="en-US" altLang="zh-CN"/>
              <a:t>size=10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5734685" y="3897630"/>
            <a:ext cx="2822575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>
              <a:buFont typeface="+mj-lt"/>
              <a:buNone/>
            </a:pPr>
            <a:r>
              <a:rPr lang="en-US" altLang="zh-CN">
                <a:solidFill>
                  <a:schemeClr val="tx1"/>
                </a:solidFill>
              </a:rPr>
              <a:t>B.  </a:t>
            </a:r>
            <a:r>
              <a:rPr lang="zh-CN" altLang="en-US">
                <a:solidFill>
                  <a:schemeClr val="tx1"/>
                </a:solidFill>
              </a:rPr>
              <a:t>附加</a:t>
            </a:r>
            <a:r>
              <a:rPr lang="en-US" altLang="zh-CN">
                <a:solidFill>
                  <a:schemeClr val="tx1"/>
                </a:solidFill>
              </a:rPr>
              <a:t>query</a:t>
            </a:r>
            <a:r>
              <a:rPr lang="zh-CN" altLang="en-US">
                <a:solidFill>
                  <a:schemeClr val="tx1"/>
                </a:solidFill>
              </a:rPr>
              <a:t>查询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677535" y="4530090"/>
            <a:ext cx="417766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列检索召回，</a:t>
            </a:r>
            <a:r>
              <a:rPr lang="zh-CN" altLang="en-US" sz="1400">
                <a:sym typeface="+mn-ea"/>
              </a:rPr>
              <a:t>混合召回，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返回个数</a:t>
            </a:r>
            <a:r>
              <a:rPr lang="en-US" altLang="zh-CN" sz="1400">
                <a:sym typeface="+mn-ea"/>
              </a:rPr>
              <a:t>size=10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1047750" y="902970"/>
            <a:ext cx="7664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、以行检索的</a:t>
            </a:r>
            <a:r>
              <a:rPr lang="en-US" altLang="zh-CN"/>
              <a:t>company_name,sheet_name,data_month</a:t>
            </a:r>
            <a:r>
              <a:rPr lang="zh-CN" altLang="en-US"/>
              <a:t>为过滤条件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315325" y="2830830"/>
            <a:ext cx="2580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假设无重复个数</a:t>
            </a:r>
            <a:r>
              <a:rPr lang="en-US" altLang="zh-CN" sz="1400"/>
              <a:t>size=3</a:t>
            </a:r>
            <a:endParaRPr lang="en-US" altLang="zh-CN" sz="1400"/>
          </a:p>
        </p:txBody>
      </p:sp>
      <p:sp>
        <p:nvSpPr>
          <p:cNvPr id="25" name="加号 24"/>
          <p:cNvSpPr/>
          <p:nvPr/>
        </p:nvSpPr>
        <p:spPr>
          <a:xfrm>
            <a:off x="5086350" y="3744595"/>
            <a:ext cx="534035" cy="479425"/>
          </a:xfrm>
          <a:prstGeom prst="math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314700" y="1489075"/>
            <a:ext cx="3872865" cy="3727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" name="直接箭头连接符 2"/>
          <p:cNvCxnSpPr>
            <a:stCxn id="2" idx="2"/>
          </p:cNvCxnSpPr>
          <p:nvPr/>
        </p:nvCxnSpPr>
        <p:spPr>
          <a:xfrm flipH="1">
            <a:off x="5248275" y="1861820"/>
            <a:ext cx="3175" cy="3238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2"/>
            <a:endCxn id="7" idx="0"/>
          </p:cNvCxnSpPr>
          <p:nvPr/>
        </p:nvCxnSpPr>
        <p:spPr>
          <a:xfrm>
            <a:off x="5266055" y="2527300"/>
            <a:ext cx="0" cy="3035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 rot="16200000">
            <a:off x="5118100" y="2283460"/>
            <a:ext cx="295275" cy="24752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5257800" y="4528820"/>
            <a:ext cx="200025" cy="43815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5266055" y="5576570"/>
            <a:ext cx="9525" cy="352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流程图: 终止 29"/>
          <p:cNvSpPr/>
          <p:nvPr/>
        </p:nvSpPr>
        <p:spPr>
          <a:xfrm>
            <a:off x="1903095" y="5962650"/>
            <a:ext cx="7304405" cy="698500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660650" y="6106795"/>
            <a:ext cx="6015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前端显示</a:t>
            </a:r>
            <a:r>
              <a:rPr lang="en-US" altLang="zh-CN"/>
              <a:t>1.</a:t>
            </a:r>
            <a:r>
              <a:rPr lang="zh-CN" altLang="en-US"/>
              <a:t>公司名称，</a:t>
            </a:r>
            <a:r>
              <a:rPr lang="en-US" altLang="zh-CN"/>
              <a:t>2.</a:t>
            </a:r>
            <a:r>
              <a:rPr lang="zh-CN" altLang="en-US"/>
              <a:t>工作表名称，</a:t>
            </a:r>
            <a:r>
              <a:rPr lang="en-US" altLang="zh-CN"/>
              <a:t>3.</a:t>
            </a:r>
            <a:r>
              <a:rPr lang="zh-CN" altLang="en-US"/>
              <a:t>日期，</a:t>
            </a:r>
            <a:r>
              <a:rPr lang="en-US" altLang="zh-CN"/>
              <a:t>4.</a:t>
            </a:r>
            <a:r>
              <a:rPr lang="zh-CN" altLang="en-US"/>
              <a:t>列名称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886585" y="1548765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sheet_name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77035" y="2341245"/>
            <a:ext cx="1866265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column_name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21825" y="253619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question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00700" y="188849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keywords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43550" y="3329940"/>
            <a:ext cx="1447800" cy="3619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vector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" name="肘形连接符 8"/>
          <p:cNvCxnSpPr>
            <a:stCxn id="6" idx="1"/>
            <a:endCxn id="7" idx="3"/>
          </p:cNvCxnSpPr>
          <p:nvPr/>
        </p:nvCxnSpPr>
        <p:spPr>
          <a:xfrm rot="10800000">
            <a:off x="7048500" y="2069465"/>
            <a:ext cx="2473325" cy="647700"/>
          </a:xfrm>
          <a:prstGeom prst="bentConnector3">
            <a:avLst>
              <a:gd name="adj1" fmla="val 5191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左右箭头 10"/>
          <p:cNvSpPr/>
          <p:nvPr/>
        </p:nvSpPr>
        <p:spPr>
          <a:xfrm>
            <a:off x="4486275" y="2026920"/>
            <a:ext cx="819150" cy="161925"/>
          </a:xfrm>
          <a:prstGeom prst="left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肘形连接符 12"/>
          <p:cNvCxnSpPr>
            <a:stCxn id="6" idx="1"/>
            <a:endCxn id="8" idx="3"/>
          </p:cNvCxnSpPr>
          <p:nvPr/>
        </p:nvCxnSpPr>
        <p:spPr>
          <a:xfrm rot="10800000" flipV="1">
            <a:off x="6990715" y="2717165"/>
            <a:ext cx="2530475" cy="793750"/>
          </a:xfrm>
          <a:prstGeom prst="bentConnector3">
            <a:avLst>
              <a:gd name="adj1" fmla="val 4998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868035" y="144272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文本查询，</a:t>
            </a:r>
            <a:r>
              <a:rPr lang="en-US" altLang="zh-CN"/>
              <a:t>size=100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867400" y="2907665"/>
            <a:ext cx="2390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向量查询，</a:t>
            </a:r>
            <a:r>
              <a:rPr lang="en-US" altLang="zh-CN"/>
              <a:t>size=100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1425575" y="3430270"/>
            <a:ext cx="2822575" cy="3238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column_name_embeded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9" name="左右箭头 18"/>
          <p:cNvSpPr/>
          <p:nvPr/>
        </p:nvSpPr>
        <p:spPr>
          <a:xfrm>
            <a:off x="4486275" y="3430270"/>
            <a:ext cx="819150" cy="161925"/>
          </a:xfrm>
          <a:prstGeom prst="left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629150" y="1658620"/>
            <a:ext cx="971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29150" y="2995295"/>
            <a:ext cx="75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724275" y="4751070"/>
            <a:ext cx="5807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文本</a:t>
            </a:r>
            <a:r>
              <a:rPr lang="en-US" altLang="zh-CN"/>
              <a:t>+</a:t>
            </a:r>
            <a:r>
              <a:rPr lang="zh-CN" altLang="en-US"/>
              <a:t>向量召回合并可能</a:t>
            </a:r>
            <a:r>
              <a:rPr lang="en-US" altLang="zh-CN"/>
              <a:t>&gt;100,</a:t>
            </a:r>
            <a:r>
              <a:rPr lang="zh-CN" altLang="en-US"/>
              <a:t>最后取前</a:t>
            </a:r>
            <a:r>
              <a:rPr lang="en-US" altLang="zh-CN"/>
              <a:t>10</a:t>
            </a:r>
            <a:r>
              <a:rPr lang="zh-CN" altLang="en-US"/>
              <a:t>个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47750" y="902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、列名称检索</a:t>
            </a:r>
            <a:endParaRPr lang="zh-CN" altLang="en-US"/>
          </a:p>
        </p:txBody>
      </p:sp>
      <p:sp>
        <p:nvSpPr>
          <p:cNvPr id="2" name="加号 1"/>
          <p:cNvSpPr/>
          <p:nvPr/>
        </p:nvSpPr>
        <p:spPr>
          <a:xfrm>
            <a:off x="3334385" y="1888490"/>
            <a:ext cx="380365" cy="400685"/>
          </a:xfrm>
          <a:prstGeom prst="math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大括号 2"/>
          <p:cNvSpPr/>
          <p:nvPr/>
        </p:nvSpPr>
        <p:spPr>
          <a:xfrm>
            <a:off x="3714750" y="1689735"/>
            <a:ext cx="229870" cy="8559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258175" y="2289175"/>
            <a:ext cx="1435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根据列名称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mmexport1612769997331(1)"/>
          <p:cNvPicPr>
            <a:picLocks noChangeAspect="1"/>
          </p:cNvPicPr>
          <p:nvPr/>
        </p:nvPicPr>
        <p:blipFill>
          <a:blip r:embed="rId1"/>
          <a:srcRect l="4449" r="10541"/>
          <a:stretch>
            <a:fillRect/>
          </a:stretch>
        </p:blipFill>
        <p:spPr>
          <a:xfrm>
            <a:off x="-24130" y="-27305"/>
            <a:ext cx="12226925" cy="6903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24130" y="-27305"/>
            <a:ext cx="12256135" cy="6885940"/>
          </a:xfrm>
          <a:prstGeom prst="rect">
            <a:avLst/>
          </a:prstGeom>
          <a:gradFill flip="none" rotWithShape="1">
            <a:gsLst>
              <a:gs pos="99000">
                <a:srgbClr val="45C2C2">
                  <a:alpha val="80000"/>
                </a:srgbClr>
              </a:gs>
              <a:gs pos="52000">
                <a:srgbClr val="0681B0">
                  <a:alpha val="89000"/>
                </a:srgbClr>
              </a:gs>
              <a:gs pos="0">
                <a:srgbClr val="006E9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18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55966" y="-746586"/>
            <a:ext cx="6611198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300" normalizeH="0" baseline="0" noProof="0" dirty="0">
                <a:ln w="12700">
                  <a:solidFill>
                    <a:prstClr val="white">
                      <a:alpha val="17000"/>
                    </a:prst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sciyon</a:t>
            </a:r>
            <a:endParaRPr kumimoji="0" lang="en-US" altLang="zh-CN" sz="13800" b="0" i="0" u="none" strike="noStrike" kern="1200" cap="none" spc="300" normalizeH="0" baseline="0" noProof="0" dirty="0">
              <a:ln w="12700">
                <a:solidFill>
                  <a:prstClr val="white">
                    <a:alpha val="17000"/>
                  </a:prst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967840" y="6057420"/>
            <a:ext cx="1610119" cy="981222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55" name="矩形: 圆角 54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矩形: 圆角 61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46" name="矩形: 圆角 4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矩形: 圆角 4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37" name="矩形: 圆角 3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: 圆角 3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28" name="矩形: 圆角 2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矩形: 圆角 2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" name="矩形: 圆角 3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9" name="矩形: 圆角 1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0" name="矩形: 圆角 1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矩形: 圆角 2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" name="矩形: 圆角 2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矩形: 圆角 2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-575968" y="-199763"/>
            <a:ext cx="1797005" cy="1095113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65" name="组合 64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06" name="矩形: 圆角 10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7" name="矩形: 圆角 10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8" name="矩形: 圆角 10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9" name="矩形: 圆角 10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0" name="矩形: 圆角 10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1" name="矩形: 圆角 11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2" name="矩形: 圆角 11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3" name="矩形: 圆角 11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4" name="矩形: 圆角 11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97" name="矩形: 圆角 9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8" name="矩形: 圆角 9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9" name="矩形: 圆角 9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1" name="矩形: 圆角 10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3" name="矩形: 圆角 10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4" name="矩形: 圆角 10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88" name="矩形: 圆角 8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2" name="矩形: 圆角 9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3" name="矩形: 圆角 9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4" name="矩形: 圆角 9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: 圆角 9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9" name="矩形: 圆角 7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矩形: 圆角 8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0" name="矩形: 圆角 69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2" name="矩形: 圆角 71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: 圆角 73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: 圆角 74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5159851" y="1701282"/>
            <a:ext cx="1800225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1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9600" y="3933190"/>
            <a:ext cx="70319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Supersonic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用户字段映射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1</a:t>
            </a:r>
            <a:r>
              <a:rPr lang="en-US" altLang="zh-CN"/>
              <a:t>           </a:t>
            </a:r>
            <a:r>
              <a:rPr lang="zh-CN" altLang="en-US"/>
              <a:t>用户问题映射</a:t>
            </a:r>
            <a:r>
              <a:rPr lang="en-US" altLang="zh-CN"/>
              <a:t>SQL</a:t>
            </a:r>
            <a:r>
              <a:rPr lang="zh-CN" altLang="en-US"/>
              <a:t>字段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1042035"/>
            <a:ext cx="12101195" cy="5486400"/>
          </a:xfrm>
        </p:spPr>
        <p:txBody>
          <a:bodyPr>
            <a:normAutofit fontScale="25000"/>
          </a:bodyPr>
          <a:p>
            <a:pPr>
              <a:buFont typeface="Wingdings" panose="05000000000000000000" charset="0"/>
              <a:buChar char="l"/>
            </a:pPr>
            <a:r>
              <a:rPr lang="zh-CN" altLang="en-US" sz="7200"/>
              <a:t>操作方法栈</a:t>
            </a:r>
            <a:endParaRPr lang="zh-CN" altLang="en-US" sz="72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7200"/>
              <a:t>   server</a:t>
            </a:r>
            <a:r>
              <a:rPr lang="zh-CN" altLang="en-US" sz="7200"/>
              <a:t>层</a:t>
            </a:r>
            <a:endParaRPr lang="zh-CN" altLang="en-US" sz="72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7200"/>
              <a:t>       </a:t>
            </a:r>
            <a:r>
              <a:rPr lang="en-US" altLang="zh-CN" sz="7200" u="sng">
                <a:solidFill>
                  <a:srgbClr val="FF0000"/>
                </a:solidFill>
              </a:rPr>
              <a:t>ChatQueryServiceImpl</a:t>
            </a:r>
            <a:endParaRPr lang="en-US" altLang="zh-CN" sz="7200" u="sng">
              <a:solidFill>
                <a:srgbClr val="FF0000"/>
              </a:solidFill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zh-CN" sz="7200"/>
              <a:t>---&gt;parse()</a:t>
            </a:r>
            <a:r>
              <a:rPr lang="zh-CN" altLang="en-US" sz="7200"/>
              <a:t>方法</a:t>
            </a:r>
            <a:endParaRPr lang="en-US" altLang="zh-CN" sz="7200"/>
          </a:p>
          <a:p>
            <a:pPr marL="914400" lvl="2" indent="457200">
              <a:buFont typeface="Wingdings" panose="05000000000000000000" charset="0"/>
              <a:buNone/>
            </a:pPr>
            <a:r>
              <a:rPr lang="en-US" altLang="zh-CN" sz="8000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NL2SQLParser()</a:t>
            </a: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/NL2PluginParse()/PlainTextParser()</a:t>
            </a:r>
            <a:endParaRPr lang="en-US" altLang="zh-CN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1371600" lvl="3" indent="457200">
              <a:buFont typeface="Wingdings" panose="05000000000000000000" charset="0"/>
              <a:buNone/>
            </a:pP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parse()</a:t>
            </a:r>
            <a:endParaRPr lang="en-US" altLang="zh-CN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914400" lvl="2" indent="457200">
              <a:buFont typeface="Wingdings" panose="05000000000000000000" charset="0"/>
              <a:buNone/>
            </a:pPr>
            <a:r>
              <a:rPr lang="en-US" altLang="zh-CN" sz="8000">
                <a:latin typeface="Times New Roman" panose="02020603050405020304" charset="0"/>
                <a:ea typeface="微软雅黑" panose="020B0503020204020204" charset="-122"/>
                <a:sym typeface="+mn-ea"/>
              </a:rPr>
              <a:t> 	     doparse()</a:t>
            </a:r>
            <a:endParaRPr lang="zh-CN" altLang="en-US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         		 </a:t>
            </a:r>
            <a:r>
              <a:rPr lang="en-US" altLang="zh-CN" sz="8000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performmapping()</a:t>
            </a:r>
            <a:endParaRPr lang="en-US" altLang="zh-CN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457200" lvl="1" indent="457200">
              <a:buNone/>
            </a:pP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                	   Strict/Moderate(</a:t>
            </a:r>
            <a:r>
              <a:rPr lang="zh-CN" altLang="en-US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严格或者一般模式</a:t>
            </a: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)</a:t>
            </a:r>
            <a:endParaRPr lang="en-US" altLang="zh-CN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                              		 map() ---6</a:t>
            </a:r>
            <a:r>
              <a:rPr lang="zh-CN" altLang="en-US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种</a:t>
            </a: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mapper</a:t>
            </a:r>
            <a:r>
              <a:rPr lang="zh-CN" altLang="en-US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类型进行映射获取不同语义字段</a:t>
            </a: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elements</a:t>
            </a:r>
            <a:endParaRPr lang="zh-CN" altLang="en-US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 algn="l">
              <a:buNone/>
            </a:pPr>
            <a:r>
              <a:rPr lang="zh-CN" altLang="en-US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				      domap( )</a:t>
            </a:r>
            <a:endParaRPr lang="en-US" altLang="zh-CN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3657600" lvl="8" indent="457200" algn="l">
              <a:buNone/>
            </a:pP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      MapFilter.filter( )</a:t>
            </a:r>
            <a:endParaRPr lang="en-US" altLang="zh-CN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lvl="4" indent="0" algn="l">
              <a:buNone/>
            </a:pPr>
            <a:r>
              <a:rPr lang="en-US" altLang="zh-CN" sz="80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5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</a:t>
            </a:r>
            <a:endParaRPr lang="zh-CN" altLang="en-US" sz="8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751840"/>
            <a:ext cx="548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</a:t>
            </a:r>
            <a:r>
              <a:rPr lang="en-US" altLang="zh-CN"/>
              <a:t>/</a:t>
            </a:r>
            <a:r>
              <a:rPr lang="zh-CN" altLang="en-US"/>
              <a:t>变量：</a:t>
            </a:r>
            <a:r>
              <a:rPr lang="en-US" altLang="zh-CN"/>
              <a:t>ChatQueryContext</a:t>
            </a:r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7065010" y="5542280"/>
            <a:ext cx="1190625" cy="73342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r="18960"/>
          <a:stretch>
            <a:fillRect/>
          </a:stretch>
        </p:blipFill>
        <p:spPr>
          <a:xfrm>
            <a:off x="8488680" y="1042035"/>
            <a:ext cx="3612515" cy="13811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80365" y="6557010"/>
            <a:ext cx="11101705" cy="409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4"/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EmbeddingMapper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KeywordMapper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QueryFilterMapper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PartitionTimeMapper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TermDescMapper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AllFiledMapper 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mmexport1612769997331(1)"/>
          <p:cNvPicPr>
            <a:picLocks noChangeAspect="1"/>
          </p:cNvPicPr>
          <p:nvPr/>
        </p:nvPicPr>
        <p:blipFill>
          <a:blip r:embed="rId1"/>
          <a:srcRect l="4449" r="10541"/>
          <a:stretch>
            <a:fillRect/>
          </a:stretch>
        </p:blipFill>
        <p:spPr>
          <a:xfrm>
            <a:off x="-24130" y="-27305"/>
            <a:ext cx="12226925" cy="6903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24130" y="-27305"/>
            <a:ext cx="12256135" cy="6885940"/>
          </a:xfrm>
          <a:prstGeom prst="rect">
            <a:avLst/>
          </a:prstGeom>
          <a:gradFill flip="none" rotWithShape="1">
            <a:gsLst>
              <a:gs pos="99000">
                <a:srgbClr val="45C2C2">
                  <a:alpha val="80000"/>
                </a:srgbClr>
              </a:gs>
              <a:gs pos="52000">
                <a:srgbClr val="0681B0">
                  <a:alpha val="89000"/>
                </a:srgbClr>
              </a:gs>
              <a:gs pos="0">
                <a:srgbClr val="006E9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18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55966" y="-746586"/>
            <a:ext cx="6611198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300" normalizeH="0" baseline="0" noProof="0" dirty="0">
                <a:ln w="12700">
                  <a:solidFill>
                    <a:prstClr val="white">
                      <a:alpha val="17000"/>
                    </a:prst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sciyon</a:t>
            </a:r>
            <a:endParaRPr kumimoji="0" lang="en-US" altLang="zh-CN" sz="13800" b="0" i="0" u="none" strike="noStrike" kern="1200" cap="none" spc="300" normalizeH="0" baseline="0" noProof="0" dirty="0">
              <a:ln w="12700">
                <a:solidFill>
                  <a:prstClr val="white">
                    <a:alpha val="17000"/>
                  </a:prst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967840" y="6057420"/>
            <a:ext cx="1610119" cy="981222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55" name="矩形: 圆角 54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矩形: 圆角 61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46" name="矩形: 圆角 4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矩形: 圆角 4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37" name="矩形: 圆角 3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: 圆角 3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28" name="矩形: 圆角 2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矩形: 圆角 2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" name="矩形: 圆角 3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9" name="矩形: 圆角 1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0" name="矩形: 圆角 1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矩形: 圆角 2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" name="矩形: 圆角 2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矩形: 圆角 2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-575968" y="-199763"/>
            <a:ext cx="1797005" cy="1095113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65" name="组合 64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06" name="矩形: 圆角 10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7" name="矩形: 圆角 10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8" name="矩形: 圆角 10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9" name="矩形: 圆角 10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0" name="矩形: 圆角 10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1" name="矩形: 圆角 11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2" name="矩形: 圆角 11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3" name="矩形: 圆角 11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4" name="矩形: 圆角 11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97" name="矩形: 圆角 9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8" name="矩形: 圆角 9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9" name="矩形: 圆角 9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1" name="矩形: 圆角 10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3" name="矩形: 圆角 10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4" name="矩形: 圆角 10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88" name="矩形: 圆角 8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2" name="矩形: 圆角 9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3" name="矩形: 圆角 9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4" name="矩形: 圆角 9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: 圆角 9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9" name="矩形: 圆角 7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矩形: 圆角 8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0" name="矩形: 圆角 69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2" name="矩形: 圆角 71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: 圆角 73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: 圆角 74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5159851" y="1701282"/>
            <a:ext cx="232791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1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9600" y="3933190"/>
            <a:ext cx="70319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Supersonic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生成语义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SQL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7341235" y="1537970"/>
            <a:ext cx="4772025" cy="356235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96615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/>
              <a:t>2</a:t>
            </a:r>
            <a:r>
              <a:rPr lang="en-US" altLang="zh-CN"/>
              <a:t>  </a:t>
            </a:r>
            <a:r>
              <a:rPr lang="zh-CN" altLang="en-US"/>
              <a:t>纯</a:t>
            </a:r>
            <a:r>
              <a:rPr lang="en-US" altLang="zh-CN"/>
              <a:t>Rule</a:t>
            </a:r>
            <a:r>
              <a:rPr lang="zh-CN" altLang="en-US"/>
              <a:t>生成</a:t>
            </a:r>
            <a:r>
              <a:rPr lang="en-US" altLang="zh-CN"/>
              <a:t>SQL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获取字段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1270635"/>
            <a:ext cx="12101195" cy="4770120"/>
          </a:xfrm>
        </p:spPr>
        <p:txBody>
          <a:bodyPr>
            <a:normAutofit fontScale="25000"/>
          </a:bodyPr>
          <a:p>
            <a:pPr>
              <a:buFont typeface="Wingdings" panose="05000000000000000000" charset="0"/>
              <a:buChar char="l"/>
            </a:pPr>
            <a:r>
              <a:rPr lang="zh-CN" altLang="en-US" sz="7200"/>
              <a:t>操作方法栈</a:t>
            </a:r>
            <a:endParaRPr lang="zh-CN" altLang="en-US" sz="72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7200"/>
              <a:t>  </a:t>
            </a:r>
            <a:r>
              <a:rPr lang="en-US" altLang="zh-CN" sz="5600"/>
              <a:t> server</a:t>
            </a:r>
            <a:r>
              <a:rPr lang="zh-CN" altLang="en-US" sz="5600"/>
              <a:t>层</a:t>
            </a:r>
            <a:endParaRPr lang="zh-CN" altLang="en-US" sz="56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5600"/>
              <a:t>       </a:t>
            </a:r>
            <a:r>
              <a:rPr lang="en-US" altLang="zh-CN" sz="5600" u="sng">
                <a:solidFill>
                  <a:srgbClr val="FF0000"/>
                </a:solidFill>
              </a:rPr>
              <a:t>ChatQueryServiceImpl</a:t>
            </a:r>
            <a:endParaRPr lang="en-US" altLang="zh-CN" sz="5600" u="sng">
              <a:solidFill>
                <a:srgbClr val="FF0000"/>
              </a:solidFill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zh-CN" sz="5600"/>
              <a:t>---&gt;parse()</a:t>
            </a:r>
            <a:r>
              <a:rPr lang="zh-CN" altLang="en-US" sz="5600"/>
              <a:t>方法</a:t>
            </a:r>
            <a:endParaRPr lang="en-US" altLang="zh-CN" sz="5600"/>
          </a:p>
          <a:p>
            <a:pPr marL="914400" lvl="2" indent="457200">
              <a:buFont typeface="Wingdings" panose="05000000000000000000" charset="0"/>
              <a:buNone/>
            </a:pPr>
            <a:r>
              <a:rPr lang="en-US" altLang="zh-CN" sz="6400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NL2SQLParser()</a:t>
            </a:r>
            <a:r>
              <a:rPr lang="en-US" altLang="zh-CN" sz="64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/NL2PluginParse()/PlainTextParser()</a:t>
            </a:r>
            <a:endParaRPr lang="en-US" altLang="zh-CN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1371600" lvl="3" indent="457200">
              <a:buFont typeface="Wingdings" panose="05000000000000000000" charset="0"/>
              <a:buNone/>
            </a:pPr>
            <a:r>
              <a:rPr lang="en-US" altLang="zh-CN" sz="64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parse()</a:t>
            </a:r>
            <a:endParaRPr lang="en-US" altLang="zh-CN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914400" lvl="2" indent="457200">
              <a:buFont typeface="Wingdings" panose="05000000000000000000" charset="0"/>
              <a:buNone/>
            </a:pPr>
            <a:r>
              <a:rPr lang="en-US" altLang="zh-CN" sz="6400">
                <a:latin typeface="Times New Roman" panose="02020603050405020304" charset="0"/>
                <a:ea typeface="微软雅黑" panose="020B0503020204020204" charset="-122"/>
                <a:sym typeface="+mn-ea"/>
              </a:rPr>
              <a:t> 	     doparse()</a:t>
            </a:r>
            <a:endParaRPr lang="zh-CN" altLang="en-US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zh-CN" sz="64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         		 </a:t>
            </a:r>
            <a:r>
              <a:rPr lang="en-US" altLang="zh-CN" sz="6400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perform</a:t>
            </a:r>
            <a:r>
              <a:rPr lang="en-US" sz="6400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parsing()</a:t>
            </a:r>
            <a:endParaRPr lang="en-US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3200400" lvl="7" indent="457200" algn="l">
              <a:buNone/>
            </a:pPr>
            <a:r>
              <a:rPr lang="en-US" altLang="zh-CN" sz="64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parse()</a:t>
            </a:r>
            <a:r>
              <a:rPr lang="en-US" altLang="zh-CN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 ---3</a:t>
            </a:r>
            <a:r>
              <a:rPr lang="zh-CN" altLang="en-US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种</a:t>
            </a:r>
            <a:r>
              <a:rPr lang="en-US" altLang="zh-CN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parser</a:t>
            </a:r>
            <a:r>
              <a:rPr lang="zh-CN" altLang="en-US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方式生成</a:t>
            </a:r>
            <a:r>
              <a:rPr lang="en-US" altLang="zh-CN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SQL</a:t>
            </a:r>
            <a:r>
              <a:rPr lang="zh-CN" altLang="en-US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语句</a:t>
            </a:r>
            <a:endParaRPr lang="zh-CN" altLang="en-US" sz="5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 algn="l">
              <a:buNone/>
            </a:pPr>
            <a:r>
              <a:rPr lang="zh-CN" altLang="en-US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				    doparse()</a:t>
            </a:r>
            <a:endParaRPr lang="en-US" altLang="zh-CN" sz="7200"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marL="0" indent="0" algn="l">
              <a:buNone/>
            </a:pPr>
            <a:r>
              <a:rPr lang="en-US" altLang="zh-CN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                                                         </a:t>
            </a:r>
            <a:r>
              <a:rPr lang="zh-CN" altLang="en-US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LLMSqlParser</a:t>
            </a:r>
            <a:r>
              <a:rPr lang="zh-CN" altLang="en-US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、</a:t>
            </a:r>
            <a:r>
              <a:rPr lang="en-US" altLang="zh-CN" sz="4800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RuleSqlParser</a:t>
            </a:r>
            <a:r>
              <a:rPr lang="zh-CN" altLang="en-US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、</a:t>
            </a:r>
            <a:r>
              <a:rPr lang="en-US" altLang="zh-CN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QueryTypeParser</a:t>
            </a:r>
            <a:r>
              <a:rPr lang="zh-CN" altLang="en-US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zh-CN" altLang="en-US" sz="48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3200400" lvl="7" indent="457200" algn="l">
              <a:buNone/>
            </a:pPr>
            <a:r>
              <a:rPr lang="en-US" altLang="zh-CN" sz="48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        </a:t>
            </a:r>
            <a:r>
              <a:rPr lang="en-US" altLang="zh-CN" sz="64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RuleSemanticQuery.resolve(dataSetId, elementMatches,chatQueryContext)</a:t>
            </a:r>
            <a:endParaRPr lang="en-US" altLang="zh-CN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3200400" lvl="7" indent="457200" algn="l">
              <a:buNone/>
            </a:pPr>
            <a:endParaRPr lang="en-US" altLang="zh-CN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818515"/>
            <a:ext cx="548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ChatQueryContext(...,</a:t>
            </a:r>
            <a:r>
              <a:rPr lang="en-US" altLang="zh-CN" b="1">
                <a:solidFill>
                  <a:srgbClr val="FF0000"/>
                </a:solidFill>
              </a:rPr>
              <a:t>mapInfo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76580" y="6374130"/>
            <a:ext cx="11343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7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这里暂时不启动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LLM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生成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SQL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语句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,elementMatches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mapper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返回的映射字段，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chatQueryContext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是查询上下文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包含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mapInfo)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r="24229"/>
          <a:stretch>
            <a:fillRect/>
          </a:stretch>
        </p:blipFill>
        <p:spPr>
          <a:xfrm>
            <a:off x="7772400" y="2181225"/>
            <a:ext cx="3493135" cy="1704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943350"/>
            <a:ext cx="4248150" cy="106680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6198870" y="4195445"/>
            <a:ext cx="1323975" cy="106680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2.1 </a:t>
            </a:r>
            <a:r>
              <a:rPr lang="zh-CN" altLang="en-US"/>
              <a:t>纯</a:t>
            </a:r>
            <a:r>
              <a:rPr lang="en-US" altLang="zh-CN"/>
              <a:t>Rule_SQL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获取字段（关键词）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1270635"/>
            <a:ext cx="12101195" cy="325628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操作方法栈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l">
              <a:buNone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   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LLMSqlParser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、</a:t>
            </a:r>
            <a:r>
              <a:rPr lang="en-US" altLang="zh-CN" u="sng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RuleSqlParser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、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QueryTypeParser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（设置查询类型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AGGREGATE or DETAIL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           queries</a:t>
            </a:r>
            <a:r>
              <a:rPr lang="en-US" altLang="zh-CN" sz="160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=RuleSemanticQuery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.resolve(dataSetId, elementMatches,chatQueryContext)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828800" lvl="4" indent="0" algn="l">
              <a:buNone/>
            </a:pPr>
            <a:r>
              <a:rPr lang="en-US" altLang="zh-CN" sz="160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candidateQueries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.addAll(queries);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1828800" lvl="4" indent="0" algn="l">
              <a:buNone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286000" lvl="5" indent="0" algn="l">
              <a:buNone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chatQueryContext.setCandidateQueries(candidateQueries)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818515"/>
            <a:ext cx="359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ChatQueryContext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08355" y="5448935"/>
            <a:ext cx="10074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1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dataSetId, elementMatches, chatQueryContext 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分别为数据集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id,Mapper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返回的关键词，查询上下文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45" y="4400550"/>
            <a:ext cx="5076825" cy="7239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94080" y="5970270"/>
            <a:ext cx="6873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chatQueryContext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对象存储候选查询对象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candidateQueries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3036570" y="833755"/>
            <a:ext cx="8627745" cy="38207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27705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/>
              <a:t>步骤</a:t>
            </a:r>
            <a:r>
              <a:rPr lang="en-US"/>
              <a:t>2.2</a:t>
            </a:r>
            <a:r>
              <a:rPr lang="en-US" altLang="zh-CN"/>
              <a:t>  </a:t>
            </a:r>
            <a:r>
              <a:rPr lang="zh-CN" altLang="en-US"/>
              <a:t>纯</a:t>
            </a:r>
            <a:r>
              <a:rPr lang="en-US" altLang="zh-CN"/>
              <a:t>Rule</a:t>
            </a:r>
            <a:r>
              <a:rPr lang="zh-CN" altLang="en-US"/>
              <a:t>生成</a:t>
            </a:r>
            <a:r>
              <a:rPr lang="en-US" altLang="zh-CN"/>
              <a:t>SQL——</a:t>
            </a:r>
            <a:r>
              <a:rPr lang="zh-CN" altLang="en-US"/>
              <a:t>获取字段（时间和类型）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117725"/>
            <a:ext cx="4248150" cy="10668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60680" y="4941570"/>
            <a:ext cx="11831955" cy="1786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/>
              <a:t>       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 </a:t>
            </a:r>
            <a:r>
              <a:rPr lang="zh-CN" altLang="en-US"/>
              <a:t>通过自定义的规则生成</a:t>
            </a:r>
            <a:r>
              <a:rPr lang="en-US" altLang="zh-CN"/>
              <a:t>SQL</a:t>
            </a:r>
            <a:r>
              <a:rPr lang="zh-CN" altLang="en-US"/>
              <a:t>语句，，继续使用辅助解析</a:t>
            </a:r>
            <a:r>
              <a:rPr lang="en-US" altLang="zh-CN"/>
              <a:t>auxiliaryParsers</a:t>
            </a:r>
            <a:r>
              <a:rPr lang="zh-CN" altLang="en-US"/>
              <a:t>辅助生成</a:t>
            </a:r>
            <a:r>
              <a:rPr lang="en-US" altLang="zh-CN"/>
              <a:t>SQL</a:t>
            </a:r>
            <a:r>
              <a:rPr lang="zh-CN" altLang="en-US"/>
              <a:t>；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      </a:t>
            </a:r>
            <a:r>
              <a:rPr lang="zh-CN" altLang="en-US"/>
              <a:t>【</a:t>
            </a:r>
            <a:r>
              <a:rPr lang="en-US" altLang="zh-CN"/>
              <a:t>auxiliaryParser</a:t>
            </a:r>
            <a:r>
              <a:rPr lang="zh-CN" altLang="en-US"/>
              <a:t>】中</a:t>
            </a:r>
            <a:r>
              <a:rPr lang="en-US" altLang="zh-CN"/>
              <a:t>TimeRange</a:t>
            </a:r>
            <a:r>
              <a:rPr lang="zh-CN" altLang="en-US"/>
              <a:t>类用于确定时间范围（范围或指定日期），</a:t>
            </a:r>
            <a:r>
              <a:rPr lang="en-US" altLang="zh-CN"/>
              <a:t>Aggregate</a:t>
            </a:r>
            <a:r>
              <a:rPr lang="zh-CN" altLang="en-US"/>
              <a:t>类用于确定计算类型（</a:t>
            </a:r>
            <a:r>
              <a:rPr lang="en-US" altLang="zh-CN"/>
              <a:t>sum/max/min/average</a:t>
            </a:r>
            <a:r>
              <a:rPr lang="zh-CN" altLang="en-US"/>
              <a:t>等等）。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60680" y="1586865"/>
            <a:ext cx="274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①、禁用大模型</a:t>
            </a:r>
            <a:r>
              <a:rPr lang="en-US" altLang="zh-CN"/>
              <a:t>LLM</a:t>
            </a:r>
            <a:r>
              <a:rPr lang="zh-CN" altLang="en-US"/>
              <a:t>时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519170" y="4210050"/>
            <a:ext cx="7169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辅助解析【时间</a:t>
            </a:r>
            <a:r>
              <a:rPr lang="en-US" altLang="zh-CN"/>
              <a:t>time</a:t>
            </a:r>
            <a:r>
              <a:rPr lang="zh-CN" altLang="en-US"/>
              <a:t>和类型（</a:t>
            </a:r>
            <a:r>
              <a:rPr lang="en-US" altLang="zh-CN"/>
              <a:t>sum/max/min/average</a:t>
            </a:r>
            <a:r>
              <a:rPr lang="zh-CN" altLang="en-US"/>
              <a:t>）】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075" y="1192530"/>
            <a:ext cx="5076825" cy="723900"/>
          </a:xfrm>
          <a:prstGeom prst="rect">
            <a:avLst/>
          </a:prstGeom>
        </p:spPr>
      </p:pic>
      <p:cxnSp>
        <p:nvCxnSpPr>
          <p:cNvPr id="16" name="直接箭头连接符 15"/>
          <p:cNvCxnSpPr>
            <a:stCxn id="15" idx="2"/>
            <a:endCxn id="8" idx="0"/>
          </p:cNvCxnSpPr>
          <p:nvPr/>
        </p:nvCxnSpPr>
        <p:spPr>
          <a:xfrm>
            <a:off x="7202805" y="1916430"/>
            <a:ext cx="7620" cy="201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32155" y="4846320"/>
            <a:ext cx="109321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chatQueryContext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对象存储候选查询对象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candidateQueries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，使用辅助解析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auxiliaryParsers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完善补充候选查询对象的数据。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160" y="3385820"/>
            <a:ext cx="7820025" cy="742950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8" idx="2"/>
          </p:cNvCxnSpPr>
          <p:nvPr/>
        </p:nvCxnSpPr>
        <p:spPr>
          <a:xfrm flipH="1">
            <a:off x="7203440" y="3184525"/>
            <a:ext cx="6985" cy="201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2.3  </a:t>
            </a:r>
            <a:r>
              <a:rPr lang="zh-CN" altLang="en-US"/>
              <a:t>纯</a:t>
            </a:r>
            <a:r>
              <a:rPr lang="en-US" altLang="zh-CN"/>
              <a:t>Rule_SQL 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构建语义</a:t>
            </a:r>
            <a:r>
              <a:rPr lang="en-US" altLang="zh-CN">
                <a:sym typeface="+mn-ea"/>
              </a:rPr>
              <a:t>SQL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1270635"/>
            <a:ext cx="12101195" cy="108458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操作方法栈：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l">
              <a:buNone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818515"/>
            <a:ext cx="359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ChatQueryContext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370" y="1418590"/>
            <a:ext cx="8430260" cy="6559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32765" y="5431155"/>
            <a:ext cx="11719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</a:t>
            </a:r>
            <a:r>
              <a:rPr 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遍历候选查询对象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candidateQueries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列表，并构建语义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semantic_SQL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并存入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ChatQueryContext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对象下的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candidateQueries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下的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parseInfo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下的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sqlInfo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下的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parsedS2SQL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correctedS2SQL ;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370" y="2306320"/>
            <a:ext cx="6334125" cy="24669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2.4</a:t>
            </a:r>
            <a:r>
              <a:rPr lang="zh-CN" altLang="en-US"/>
              <a:t>（可选）</a:t>
            </a:r>
            <a:r>
              <a:rPr lang="en-US" altLang="zh-CN"/>
              <a:t>  LLM</a:t>
            </a:r>
            <a:r>
              <a:rPr lang="zh-CN" altLang="en-US"/>
              <a:t>进一步生成</a:t>
            </a:r>
            <a:r>
              <a:rPr lang="en-US" altLang="zh-CN"/>
              <a:t>SQL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1118235"/>
            <a:ext cx="12101195" cy="4598035"/>
          </a:xfrm>
        </p:spPr>
        <p:txBody>
          <a:bodyPr>
            <a:normAutofit fontScale="35000"/>
          </a:bodyPr>
          <a:p>
            <a:pPr>
              <a:buFont typeface="Wingdings" panose="05000000000000000000" charset="0"/>
              <a:buChar char="l"/>
            </a:pPr>
            <a:r>
              <a:rPr lang="zh-CN" altLang="en-US" sz="5100"/>
              <a:t>操作方法栈</a:t>
            </a:r>
            <a:endParaRPr lang="zh-CN" altLang="en-US" sz="51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7200"/>
              <a:t>   // </a:t>
            </a:r>
            <a:r>
              <a:rPr lang="zh-CN" altLang="en-US" sz="7200"/>
              <a:t>判断是否使用大模型进行语义</a:t>
            </a:r>
            <a:r>
              <a:rPr lang="en-US" altLang="zh-CN" sz="7200"/>
              <a:t>Sql</a:t>
            </a:r>
            <a:r>
              <a:rPr lang="zh-CN" altLang="en-US" sz="7200"/>
              <a:t>的生成</a:t>
            </a:r>
            <a:endParaRPr lang="zh-CN" altLang="en-US" sz="72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7200"/>
              <a:t>  </a:t>
            </a:r>
            <a:r>
              <a:rPr lang="en-US" altLang="zh-CN" sz="5600"/>
              <a:t> if (parseContext.needLLMParse() &amp;&amp; !parseContext.needFeedback()){}</a:t>
            </a:r>
            <a:endParaRPr lang="en-US" altLang="zh-CN" sz="5600"/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5600"/>
              <a:t>       	</a:t>
            </a:r>
            <a:r>
              <a:rPr lang="en-US" altLang="zh-CN" sz="5600" u="sng">
                <a:solidFill>
                  <a:srgbClr val="FF0000"/>
                </a:solidFill>
              </a:rPr>
              <a:t>do</a:t>
            </a:r>
            <a:r>
              <a:rPr lang="en-US" altLang="zh-CN" sz="64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parse()</a:t>
            </a:r>
            <a:r>
              <a:rPr lang="en-US" altLang="zh-CN" sz="56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---parser</a:t>
            </a:r>
            <a:r>
              <a:rPr lang="zh-CN" altLang="en-US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方式生成</a:t>
            </a:r>
            <a:r>
              <a:rPr lang="en-US" altLang="zh-CN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SQL</a:t>
            </a:r>
            <a:r>
              <a:rPr lang="zh-CN" altLang="en-US" sz="5600">
                <a:latin typeface="Times New Roman" panose="02020603050405020304" charset="0"/>
                <a:ea typeface="微软雅黑" panose="020B0503020204020204" charset="-122"/>
                <a:sym typeface="+mn-ea"/>
              </a:rPr>
              <a:t>语句</a:t>
            </a:r>
            <a:endParaRPr lang="zh-CN" altLang="en-US" sz="56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 algn="l">
              <a:buNone/>
            </a:pPr>
            <a:r>
              <a:rPr lang="zh-CN" altLang="en-US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	          </a:t>
            </a:r>
            <a:r>
              <a:rPr lang="zh-CN" altLang="en-US" sz="40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继续调用上面步骤</a:t>
            </a:r>
            <a:r>
              <a:rPr lang="en-US" altLang="zh-CN" sz="40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40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40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 doparse()</a:t>
            </a:r>
            <a:endParaRPr lang="en-US" altLang="zh-CN" sz="4000" u="sng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zh-CN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                        </a:t>
            </a:r>
            <a:r>
              <a:rPr lang="en-US" altLang="zh-CN" sz="72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perform</a:t>
            </a:r>
            <a:r>
              <a:rPr lang="en-US" sz="72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parsing(</a:t>
            </a:r>
            <a:r>
              <a:rPr lang="zh-CN" altLang="en-US" sz="7200" u="sng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）</a:t>
            </a:r>
            <a:endParaRPr lang="zh-CN" altLang="en-US" sz="7200" u="sng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marL="0" lvl="8" indent="457200">
              <a:buFont typeface="Wingdings" panose="05000000000000000000" charset="0"/>
              <a:buNone/>
            </a:pPr>
            <a:r>
              <a:rPr lang="en-US" altLang="zh-CN" sz="72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sym typeface="+mn-ea"/>
              </a:rPr>
              <a:t>                                                 parse() -</a:t>
            </a:r>
            <a:r>
              <a:rPr lang="en-US" altLang="zh-CN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--</a:t>
            </a:r>
            <a:r>
              <a:rPr lang="en-US" altLang="zh-CN" sz="7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LLMSqlParser</a:t>
            </a:r>
            <a:r>
              <a:rPr lang="zh-CN" altLang="en-US" sz="7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实现</a:t>
            </a:r>
            <a:r>
              <a:rPr lang="zh-CN" altLang="en-US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方式生成</a:t>
            </a:r>
            <a:r>
              <a:rPr lang="en-US" altLang="zh-CN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SQL</a:t>
            </a:r>
            <a:r>
              <a:rPr lang="zh-CN" altLang="en-US" sz="7200">
                <a:latin typeface="Times New Roman" panose="02020603050405020304" charset="0"/>
                <a:ea typeface="微软雅黑" panose="020B0503020204020204" charset="-122"/>
                <a:sym typeface="+mn-ea"/>
              </a:rPr>
              <a:t>语句</a:t>
            </a:r>
            <a:endParaRPr lang="en-US" altLang="zh-CN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3657600" lvl="8" indent="457200" algn="l">
              <a:buNone/>
            </a:pPr>
            <a:r>
              <a:rPr lang="en-US" altLang="zh-CN" sz="64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      </a:t>
            </a:r>
            <a:endParaRPr lang="zh-CN" altLang="en-US" sz="640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145" y="5114290"/>
            <a:ext cx="4689475" cy="16294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751840"/>
            <a:ext cx="302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QueryContext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mmexport1612769997331(1)"/>
          <p:cNvPicPr>
            <a:picLocks noChangeAspect="1"/>
          </p:cNvPicPr>
          <p:nvPr/>
        </p:nvPicPr>
        <p:blipFill>
          <a:blip r:embed="rId1"/>
          <a:srcRect l="4449" r="10541"/>
          <a:stretch>
            <a:fillRect/>
          </a:stretch>
        </p:blipFill>
        <p:spPr>
          <a:xfrm>
            <a:off x="-24130" y="-27305"/>
            <a:ext cx="12226925" cy="6903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58420" y="-18415"/>
            <a:ext cx="12256135" cy="6885940"/>
          </a:xfrm>
          <a:prstGeom prst="rect">
            <a:avLst/>
          </a:prstGeom>
          <a:gradFill flip="none" rotWithShape="1">
            <a:gsLst>
              <a:gs pos="99000">
                <a:srgbClr val="45C2C2">
                  <a:alpha val="80000"/>
                </a:srgbClr>
              </a:gs>
              <a:gs pos="52000">
                <a:srgbClr val="0681B0">
                  <a:alpha val="89000"/>
                </a:srgbClr>
              </a:gs>
              <a:gs pos="0">
                <a:srgbClr val="006E9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18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71851" y="-65866"/>
            <a:ext cx="6611198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300" normalizeH="0" baseline="0" noProof="0" dirty="0">
                <a:ln w="12700">
                  <a:solidFill>
                    <a:prstClr val="white">
                      <a:alpha val="17000"/>
                    </a:prst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sciyon</a:t>
            </a:r>
            <a:endParaRPr kumimoji="0" lang="en-US" altLang="zh-CN" sz="13800" b="0" i="0" u="none" strike="noStrike" kern="1200" cap="none" spc="300" normalizeH="0" baseline="0" noProof="0" dirty="0">
              <a:ln w="12700">
                <a:solidFill>
                  <a:prstClr val="white">
                    <a:alpha val="17000"/>
                  </a:prst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967840" y="6057420"/>
            <a:ext cx="1610119" cy="981222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55" name="矩形: 圆角 54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矩形: 圆角 61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46" name="矩形: 圆角 4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矩形: 圆角 4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37" name="矩形: 圆角 3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: 圆角 3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28" name="矩形: 圆角 2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矩形: 圆角 2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" name="矩形: 圆角 3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9" name="矩形: 圆角 1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0" name="矩形: 圆角 1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矩形: 圆角 2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" name="矩形: 圆角 2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矩形: 圆角 2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33632" y="66937"/>
            <a:ext cx="1797005" cy="1095113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65" name="组合 64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06" name="矩形: 圆角 10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7" name="矩形: 圆角 10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8" name="矩形: 圆角 10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9" name="矩形: 圆角 10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0" name="矩形: 圆角 10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1" name="矩形: 圆角 11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2" name="矩形: 圆角 11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3" name="矩形: 圆角 11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4" name="矩形: 圆角 11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97" name="矩形: 圆角 9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8" name="矩形: 圆角 9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9" name="矩形: 圆角 9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1" name="矩形: 圆角 10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3" name="矩形: 圆角 10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4" name="矩形: 圆角 10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88" name="矩形: 圆角 8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2" name="矩形: 圆角 9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3" name="矩形: 圆角 9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4" name="矩形: 圆角 9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: 圆角 9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9" name="矩形: 圆角 7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矩形: 圆角 8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0" name="矩形: 圆角 69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2" name="矩形: 圆角 71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: 圆角 73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: 圆角 74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5159851" y="1701282"/>
            <a:ext cx="232791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sz="1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06700" y="3933190"/>
            <a:ext cx="7821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Supersonic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纠正语义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SQL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/>
              <a:t>步骤</a:t>
            </a:r>
            <a:r>
              <a:rPr lang="en-US" altLang="zh-CN"/>
              <a:t>3          </a:t>
            </a:r>
            <a:r>
              <a:rPr lang="zh-CN" altLang="en-US"/>
              <a:t>语义</a:t>
            </a:r>
            <a:r>
              <a:rPr lang="en-US" altLang="zh-CN"/>
              <a:t>SQL</a:t>
            </a:r>
            <a:r>
              <a:rPr lang="zh-CN" altLang="en-US"/>
              <a:t>纠正</a:t>
            </a:r>
            <a:r>
              <a:rPr lang="en-US" altLang="zh-CN"/>
              <a:t>S2SQL_CORRECTING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32155" y="5763895"/>
            <a:ext cx="95834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sz="1400"/>
              <a:t>仅会使用基于自定义规则</a:t>
            </a:r>
            <a:r>
              <a:rPr lang="en-US" altLang="zh-CN" sz="1400"/>
              <a:t>SQL</a:t>
            </a:r>
            <a:r>
              <a:rPr lang="zh-CN" altLang="en-US" sz="1400"/>
              <a:t>修正对象进行处理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255905" y="528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①、禁用使用大模型时</a:t>
            </a:r>
            <a:r>
              <a:rPr lang="en-US" altLang="zh-CN"/>
              <a:t>LLM</a:t>
            </a:r>
            <a:r>
              <a:rPr lang="zh-CN" altLang="en-US" sz="1400"/>
              <a:t>；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0" y="955675"/>
            <a:ext cx="548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q</a:t>
            </a:r>
            <a:r>
              <a:rPr lang="en-US" altLang="zh-CN"/>
              <a:t>ueryContext</a:t>
            </a:r>
            <a:endParaRPr lang="en-US" altLang="zh-CN"/>
          </a:p>
        </p:txBody>
      </p:sp>
      <p:sp>
        <p:nvSpPr>
          <p:cNvPr id="9" name="内容占位符 8"/>
          <p:cNvSpPr/>
          <p:nvPr>
            <p:ph idx="1"/>
            <p:custDataLst>
              <p:tags r:id="rId2"/>
            </p:custDataLst>
          </p:nvPr>
        </p:nvSpPr>
        <p:spPr>
          <a:xfrm>
            <a:off x="55880" y="1661795"/>
            <a:ext cx="10968990" cy="3117215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操作方法栈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en-US" altLang="zh-CN"/>
              <a:t>   performCorrecting</a:t>
            </a:r>
            <a:r>
              <a:rPr lang="zh-CN" altLang="en-US"/>
              <a:t>（）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     </a:t>
            </a:r>
            <a:r>
              <a:rPr lang="zh-CN" altLang="en-US"/>
              <a:t>遍历</a:t>
            </a:r>
            <a:r>
              <a:rPr lang="en-US" altLang="zh-CN"/>
              <a:t>RuleSqlCorrector</a:t>
            </a:r>
            <a:r>
              <a:rPr lang="zh-CN" altLang="en-US"/>
              <a:t>、</a:t>
            </a:r>
            <a:r>
              <a:rPr lang="en-US" altLang="zh-CN"/>
              <a:t>LLMSqlCorrector</a:t>
            </a:r>
            <a:r>
              <a:rPr lang="zh-CN" altLang="en-US"/>
              <a:t>、</a:t>
            </a:r>
            <a:r>
              <a:rPr lang="en-US" altLang="zh-CN"/>
              <a:t>LLMPhysicalCorrector</a:t>
            </a:r>
            <a:r>
              <a:rPr lang="zh-CN" altLang="en-US"/>
              <a:t>进行纠正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          </a:t>
            </a:r>
            <a:r>
              <a:rPr lang="en-US" altLang="zh-CN" u="sng">
                <a:solidFill>
                  <a:srgbClr val="FF0000"/>
                </a:solidFill>
              </a:rPr>
              <a:t> Corrector</a:t>
            </a:r>
            <a:r>
              <a:rPr lang="zh-CN" altLang="en-US" u="sng">
                <a:solidFill>
                  <a:srgbClr val="FF0000"/>
                </a:solidFill>
              </a:rPr>
              <a:t>（）</a:t>
            </a:r>
            <a:endParaRPr lang="zh-CN" altLang="en-US" u="sng">
              <a:solidFill>
                <a:srgbClr val="FF0000"/>
              </a:solidFill>
            </a:endParaRPr>
          </a:p>
          <a:p>
            <a:pPr marL="2286000" lvl="5" indent="457200">
              <a:buNone/>
            </a:pPr>
            <a:r>
              <a:rPr lang="en-US" altLang="zh-CN" u="sng">
                <a:solidFill>
                  <a:srgbClr val="FF0000"/>
                </a:solidFill>
              </a:rPr>
              <a:t>doCorrect()</a:t>
            </a:r>
            <a:endParaRPr lang="zh-CN" altLang="en-US" u="sng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u="sng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b="21827"/>
          <a:stretch>
            <a:fillRect/>
          </a:stretch>
        </p:blipFill>
        <p:spPr>
          <a:xfrm>
            <a:off x="6981190" y="1023620"/>
            <a:ext cx="4705350" cy="1466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mmexport1612769997331(1)"/>
          <p:cNvPicPr>
            <a:picLocks noChangeAspect="1"/>
          </p:cNvPicPr>
          <p:nvPr/>
        </p:nvPicPr>
        <p:blipFill>
          <a:blip r:embed="rId1"/>
          <a:srcRect l="4449" r="10541"/>
          <a:stretch>
            <a:fillRect/>
          </a:stretch>
        </p:blipFill>
        <p:spPr>
          <a:xfrm>
            <a:off x="-24130" y="-27305"/>
            <a:ext cx="12226925" cy="6903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24130" y="-27305"/>
            <a:ext cx="12256135" cy="6885940"/>
          </a:xfrm>
          <a:prstGeom prst="rect">
            <a:avLst/>
          </a:prstGeom>
          <a:gradFill flip="none" rotWithShape="1">
            <a:gsLst>
              <a:gs pos="99000">
                <a:srgbClr val="45C2C2">
                  <a:alpha val="80000"/>
                </a:srgbClr>
              </a:gs>
              <a:gs pos="52000">
                <a:srgbClr val="0681B0">
                  <a:alpha val="89000"/>
                </a:srgbClr>
              </a:gs>
              <a:gs pos="0">
                <a:srgbClr val="006E9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18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55966" y="-746586"/>
            <a:ext cx="6611198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300" normalizeH="0" baseline="0" noProof="0" dirty="0">
                <a:ln w="12700">
                  <a:solidFill>
                    <a:prstClr val="white">
                      <a:alpha val="17000"/>
                    </a:prst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sciyon</a:t>
            </a:r>
            <a:endParaRPr kumimoji="0" lang="en-US" altLang="zh-CN" sz="13800" b="0" i="0" u="none" strike="noStrike" kern="1200" cap="none" spc="300" normalizeH="0" baseline="0" noProof="0" dirty="0">
              <a:ln w="12700">
                <a:solidFill>
                  <a:prstClr val="white">
                    <a:alpha val="17000"/>
                  </a:prst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967840" y="6057420"/>
            <a:ext cx="1610119" cy="981222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55" name="矩形: 圆角 54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矩形: 圆角 61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46" name="矩形: 圆角 4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矩形: 圆角 4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37" name="矩形: 圆角 3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: 圆角 3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28" name="矩形: 圆角 2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矩形: 圆角 2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" name="矩形: 圆角 3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9" name="矩形: 圆角 1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0" name="矩形: 圆角 1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矩形: 圆角 2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" name="矩形: 圆角 2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矩形: 圆角 2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-575968" y="-199763"/>
            <a:ext cx="1797005" cy="1095113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65" name="组合 64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06" name="矩形: 圆角 10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7" name="矩形: 圆角 10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8" name="矩形: 圆角 10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9" name="矩形: 圆角 10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0" name="矩形: 圆角 10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1" name="矩形: 圆角 11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2" name="矩形: 圆角 11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3" name="矩形: 圆角 11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4" name="矩形: 圆角 11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97" name="矩形: 圆角 9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8" name="矩形: 圆角 9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9" name="矩形: 圆角 9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1" name="矩形: 圆角 10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3" name="矩形: 圆角 10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4" name="矩形: 圆角 10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88" name="矩形: 圆角 8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2" name="矩形: 圆角 9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3" name="矩形: 圆角 9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4" name="矩形: 圆角 9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: 圆角 9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9" name="矩形: 圆角 7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矩形: 圆角 8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0" name="矩形: 圆角 69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2" name="矩形: 圆角 71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: 圆角 73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: 圆角 74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5159851" y="1701282"/>
            <a:ext cx="232791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zh-CN" sz="1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49600" y="3933190"/>
            <a:ext cx="70319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Supersonic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翻译语义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SQL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4                 </a:t>
            </a:r>
            <a:r>
              <a:rPr lang="zh-CN" altLang="en-US"/>
              <a:t>语义</a:t>
            </a:r>
            <a:r>
              <a:rPr lang="en-US" altLang="zh-CN"/>
              <a:t>SQL</a:t>
            </a:r>
            <a:r>
              <a:rPr lang="zh-CN" altLang="en-US"/>
              <a:t>转实际</a:t>
            </a:r>
            <a:r>
              <a:rPr lang="en-US" altLang="zh-CN"/>
              <a:t>SQL</a:t>
            </a:r>
            <a:r>
              <a:rPr lang="zh-CN" altLang="en-US"/>
              <a:t>语句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8330" y="4639310"/>
            <a:ext cx="11131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/>
              <a:t>最终生成的实际</a:t>
            </a:r>
            <a:r>
              <a:rPr lang="en-US" altLang="zh-CN" sz="1400"/>
              <a:t>SQL</a:t>
            </a:r>
            <a:r>
              <a:rPr lang="zh-CN" altLang="en-US" sz="1400"/>
              <a:t>语句，存储</a:t>
            </a:r>
            <a:r>
              <a:rPr lang="en-US" altLang="zh-CN" sz="1400"/>
              <a:t> </a:t>
            </a:r>
            <a:r>
              <a:rPr lang="zh-CN" altLang="en-US" sz="1400"/>
              <a:t>在</a:t>
            </a:r>
            <a:r>
              <a:rPr lang="en-US" altLang="zh-CN" sz="1400"/>
              <a:t>ChatQueryContext</a:t>
            </a:r>
            <a:r>
              <a:rPr lang="zh-CN" altLang="en-US" sz="1400"/>
              <a:t>对象下的候选对象</a:t>
            </a:r>
            <a:r>
              <a:rPr lang="en-US" altLang="zh-CN" sz="1400"/>
              <a:t>candidateQueries</a:t>
            </a:r>
            <a:r>
              <a:rPr lang="zh-CN" altLang="en-US" sz="1400"/>
              <a:t>下的</a:t>
            </a:r>
            <a:r>
              <a:rPr lang="en-US" altLang="zh-CN" sz="1400"/>
              <a:t>sqlInfo</a:t>
            </a:r>
            <a:r>
              <a:rPr lang="zh-CN" altLang="en-US" sz="1400"/>
              <a:t>下的</a:t>
            </a:r>
            <a:r>
              <a:rPr lang="en-US" altLang="zh-CN" sz="1400"/>
              <a:t>querySQL </a:t>
            </a:r>
            <a:r>
              <a:rPr lang="zh-CN" altLang="en-US" sz="1400"/>
              <a:t>中；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0" y="955675"/>
            <a:ext cx="548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ChatQueryContext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60680" y="4144010"/>
            <a:ext cx="153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9" name="内容占位符 8"/>
          <p:cNvSpPr/>
          <p:nvPr>
            <p:ph idx="1"/>
            <p:custDataLst>
              <p:tags r:id="rId2"/>
            </p:custDataLst>
          </p:nvPr>
        </p:nvSpPr>
        <p:spPr>
          <a:xfrm>
            <a:off x="8255" y="1490345"/>
            <a:ext cx="10968990" cy="1637665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操作方法栈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               performTranslating</a:t>
            </a:r>
            <a:r>
              <a:rPr lang="zh-CN" altLang="en-US"/>
              <a:t>（）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</a:t>
            </a:r>
            <a:r>
              <a:rPr lang="en-US" altLang="zh-CN">
                <a:solidFill>
                  <a:srgbClr val="FF0000"/>
                </a:solidFill>
              </a:rPr>
              <a:t>      translate</a:t>
            </a:r>
            <a:r>
              <a:rPr lang="zh-CN" altLang="en-US">
                <a:solidFill>
                  <a:srgbClr val="FF0000"/>
                </a:solidFill>
              </a:rPr>
              <a:t>（）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" y="5186680"/>
            <a:ext cx="12192000" cy="1285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90" y="2241550"/>
            <a:ext cx="4610735" cy="23977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mmexport1612769997331(1)"/>
          <p:cNvPicPr>
            <a:picLocks noChangeAspect="1"/>
          </p:cNvPicPr>
          <p:nvPr/>
        </p:nvPicPr>
        <p:blipFill>
          <a:blip r:embed="rId1"/>
          <a:srcRect l="4449" r="10541"/>
          <a:stretch>
            <a:fillRect/>
          </a:stretch>
        </p:blipFill>
        <p:spPr>
          <a:xfrm>
            <a:off x="-24130" y="-27305"/>
            <a:ext cx="12226925" cy="6903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58420" y="-18415"/>
            <a:ext cx="12256135" cy="6885940"/>
          </a:xfrm>
          <a:prstGeom prst="rect">
            <a:avLst/>
          </a:prstGeom>
          <a:gradFill flip="none" rotWithShape="1">
            <a:gsLst>
              <a:gs pos="99000">
                <a:srgbClr val="45C2C2">
                  <a:alpha val="80000"/>
                </a:srgbClr>
              </a:gs>
              <a:gs pos="52000">
                <a:srgbClr val="0681B0">
                  <a:alpha val="89000"/>
                </a:srgbClr>
              </a:gs>
              <a:gs pos="0">
                <a:srgbClr val="006E9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18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71851" y="-65866"/>
            <a:ext cx="6611198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300" normalizeH="0" baseline="0" noProof="0" dirty="0">
                <a:ln w="12700">
                  <a:solidFill>
                    <a:prstClr val="white">
                      <a:alpha val="17000"/>
                    </a:prst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sciyon</a:t>
            </a:r>
            <a:endParaRPr kumimoji="0" lang="en-US" altLang="zh-CN" sz="13800" b="0" i="0" u="none" strike="noStrike" kern="1200" cap="none" spc="300" normalizeH="0" baseline="0" noProof="0" dirty="0">
              <a:ln w="12700">
                <a:solidFill>
                  <a:prstClr val="white">
                    <a:alpha val="17000"/>
                  </a:prst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967840" y="6057420"/>
            <a:ext cx="1610119" cy="981222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55" name="矩形: 圆角 54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矩形: 圆角 61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46" name="矩形: 圆角 4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矩形: 圆角 4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37" name="矩形: 圆角 3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: 圆角 3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28" name="矩形: 圆角 2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矩形: 圆角 2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" name="矩形: 圆角 3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9" name="矩形: 圆角 1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0" name="矩形: 圆角 1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矩形: 圆角 2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" name="矩形: 圆角 2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矩形: 圆角 2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33632" y="66937"/>
            <a:ext cx="1797005" cy="1095113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65" name="组合 64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06" name="矩形: 圆角 10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7" name="矩形: 圆角 10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8" name="矩形: 圆角 10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9" name="矩形: 圆角 10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0" name="矩形: 圆角 10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1" name="矩形: 圆角 11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2" name="矩形: 圆角 11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3" name="矩形: 圆角 11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4" name="矩形: 圆角 11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97" name="矩形: 圆角 9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8" name="矩形: 圆角 9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9" name="矩形: 圆角 9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1" name="矩形: 圆角 10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3" name="矩形: 圆角 10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4" name="矩形: 圆角 10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88" name="矩形: 圆角 8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2" name="矩形: 圆角 9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3" name="矩形: 圆角 9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4" name="矩形: 圆角 9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: 圆角 9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9" name="矩形: 圆角 7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矩形: 圆角 8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0" name="矩形: 圆角 69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2" name="矩形: 圆角 71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: 圆角 73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: 圆角 74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5159851" y="1701282"/>
            <a:ext cx="232791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zh-CN" sz="1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06700" y="3933190"/>
            <a:ext cx="7821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Supersonic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纠正实际物理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SQL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5                 </a:t>
            </a:r>
            <a:r>
              <a:rPr lang="zh-CN" altLang="en-US"/>
              <a:t>物理纠正</a:t>
            </a:r>
            <a:r>
              <a:rPr lang="en-US" altLang="zh-CN"/>
              <a:t>SQL</a:t>
            </a:r>
            <a:r>
              <a:rPr lang="zh-CN" altLang="en-US"/>
              <a:t>语句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2555" y="845185"/>
            <a:ext cx="548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queryContext(...,</a:t>
            </a:r>
            <a:r>
              <a:rPr lang="en-US" altLang="zh-CN" b="1">
                <a:solidFill>
                  <a:srgbClr val="FF0000"/>
                </a:solidFill>
              </a:rPr>
              <a:t>candidateQueries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9" name="内容占位符 8"/>
          <p:cNvSpPr/>
          <p:nvPr>
            <p:ph idx="1"/>
            <p:custDataLst>
              <p:tags r:id="rId2"/>
            </p:custDataLst>
          </p:nvPr>
        </p:nvSpPr>
        <p:spPr>
          <a:xfrm>
            <a:off x="122555" y="1490345"/>
            <a:ext cx="10968990" cy="284988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操作方法栈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                performPhysicalSqlCorrecting</a:t>
            </a:r>
            <a:r>
              <a:rPr lang="zh-CN" altLang="en-US"/>
              <a:t>（）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>
                <a:sym typeface="+mn-ea"/>
              </a:rPr>
              <a:t>遍历</a:t>
            </a:r>
            <a:r>
              <a:rPr lang="en-US" altLang="zh-CN">
                <a:sym typeface="+mn-ea"/>
              </a:rPr>
              <a:t>RuleSqlCorrector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LLMSqlCorrector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LLMPhysicalSqlCorrector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    </a:t>
            </a:r>
            <a:r>
              <a:rPr lang="en-US" altLang="zh-CN" u="sng">
                <a:solidFill>
                  <a:srgbClr val="FF0000"/>
                </a:solidFill>
              </a:rPr>
              <a:t> corrector</a:t>
            </a:r>
            <a:r>
              <a:rPr lang="zh-CN" altLang="en-US" u="sng">
                <a:solidFill>
                  <a:srgbClr val="FF0000"/>
                </a:solidFill>
              </a:rPr>
              <a:t>（）</a:t>
            </a:r>
            <a:endParaRPr lang="zh-CN" altLang="en-US" u="sng">
              <a:solidFill>
                <a:srgbClr val="FF0000"/>
              </a:solidFill>
            </a:endParaRPr>
          </a:p>
          <a:p>
            <a:pPr marL="1828800" lvl="4" indent="457200">
              <a:buNone/>
            </a:pPr>
            <a:r>
              <a:rPr lang="en-US" altLang="zh-CN" u="sng">
                <a:solidFill>
                  <a:srgbClr val="FF0000"/>
                </a:solidFill>
              </a:rPr>
              <a:t>doCorrect()</a:t>
            </a:r>
            <a:endParaRPr lang="zh-CN" altLang="en-US" u="sng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u="sng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70" y="937895"/>
            <a:ext cx="4638675" cy="15144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2155" y="5763895"/>
            <a:ext cx="95834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sz="1400"/>
              <a:t>仅会使用基于自定义规则</a:t>
            </a:r>
            <a:r>
              <a:rPr lang="en-US" altLang="zh-CN" sz="1400"/>
              <a:t>SQL</a:t>
            </a:r>
            <a:r>
              <a:rPr lang="zh-CN" altLang="en-US" sz="1400"/>
              <a:t>修正对象进行处理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255905" y="528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①、禁用使用大模型时</a:t>
            </a:r>
            <a:r>
              <a:rPr lang="en-US" altLang="zh-CN"/>
              <a:t>LLM</a:t>
            </a:r>
            <a:r>
              <a:rPr lang="zh-CN" altLang="en-US" sz="1400"/>
              <a:t>；</a:t>
            </a:r>
            <a:endParaRPr lang="zh-CN" altLang="en-US" sz="1400"/>
          </a:p>
        </p:txBody>
      </p:sp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mmexport1612769997331(1)"/>
          <p:cNvPicPr>
            <a:picLocks noChangeAspect="1"/>
          </p:cNvPicPr>
          <p:nvPr/>
        </p:nvPicPr>
        <p:blipFill>
          <a:blip r:embed="rId1"/>
          <a:srcRect l="4449" r="10541"/>
          <a:stretch>
            <a:fillRect/>
          </a:stretch>
        </p:blipFill>
        <p:spPr>
          <a:xfrm>
            <a:off x="-24130" y="-27305"/>
            <a:ext cx="12226925" cy="69030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58420" y="-18415"/>
            <a:ext cx="12256135" cy="6885940"/>
          </a:xfrm>
          <a:prstGeom prst="rect">
            <a:avLst/>
          </a:prstGeom>
          <a:gradFill flip="none" rotWithShape="1">
            <a:gsLst>
              <a:gs pos="99000">
                <a:srgbClr val="45C2C2">
                  <a:alpha val="80000"/>
                </a:srgbClr>
              </a:gs>
              <a:gs pos="52000">
                <a:srgbClr val="0681B0">
                  <a:alpha val="89000"/>
                </a:srgbClr>
              </a:gs>
              <a:gs pos="0">
                <a:srgbClr val="006E9F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sz="18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71851" y="-65866"/>
            <a:ext cx="6611198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300" normalizeH="0" baseline="0" noProof="0" dirty="0">
                <a:ln w="12700">
                  <a:solidFill>
                    <a:prstClr val="white">
                      <a:alpha val="17000"/>
                    </a:prstClr>
                  </a:solidFill>
                </a:ln>
                <a:noFill/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sciyon</a:t>
            </a:r>
            <a:endParaRPr kumimoji="0" lang="en-US" altLang="zh-CN" sz="13800" b="0" i="0" u="none" strike="noStrike" kern="1200" cap="none" spc="300" normalizeH="0" baseline="0" noProof="0" dirty="0">
              <a:ln w="12700">
                <a:solidFill>
                  <a:prstClr val="white">
                    <a:alpha val="17000"/>
                  </a:prstClr>
                </a:solidFill>
              </a:ln>
              <a:noFill/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967840" y="6057420"/>
            <a:ext cx="1610119" cy="981222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55" name="矩形: 圆角 54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7" name="矩形: 圆角 56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8" name="矩形: 圆角 57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矩形: 圆角 61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矩形: 圆角 62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46" name="矩形: 圆角 4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矩形: 圆角 4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矩形: 圆角 4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0" name="矩形: 圆角 4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37" name="矩形: 圆角 3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: 圆角 3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矩形: 圆角 3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矩形: 圆角 4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矩形: 圆角 4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4" name="矩形: 圆角 4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28" name="矩形: 圆角 2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9" name="矩形: 圆角 2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" name="矩形: 圆角 3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9" name="矩形: 圆角 1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0" name="矩形: 圆角 1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矩形: 圆角 2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3" name="矩形: 圆角 2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矩形: 圆角 2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33632" y="66937"/>
            <a:ext cx="1797005" cy="1095113"/>
            <a:chOff x="11406188" y="-622300"/>
            <a:chExt cx="1876425" cy="1143513"/>
          </a:xfrm>
          <a:solidFill>
            <a:schemeClr val="bg1">
              <a:alpha val="32000"/>
            </a:schemeClr>
          </a:solidFill>
        </p:grpSpPr>
        <p:grpSp>
          <p:nvGrpSpPr>
            <p:cNvPr id="65" name="组合 64"/>
            <p:cNvGrpSpPr/>
            <p:nvPr/>
          </p:nvGrpSpPr>
          <p:grpSpPr>
            <a:xfrm>
              <a:off x="11406188" y="-622300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106" name="矩形: 圆角 105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7" name="矩形: 圆角 106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8" name="矩形: 圆角 107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9" name="矩形: 圆角 108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0" name="矩形: 圆角 109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1" name="矩形: 圆角 110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2" name="矩形: 圆角 111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3" name="矩形: 圆角 112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14" name="矩形: 圆角 113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1406188" y="-36737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97" name="矩形: 圆角 96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8" name="矩形: 圆角 97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9" name="矩形: 圆角 98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0" name="矩形: 圆角 99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1" name="矩形: 圆角 100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3" name="矩形: 圆角 102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4" name="矩形: 圆角 103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矩形: 圆角 104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406188" y="-11245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88" name="矩形: 圆角 87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1" name="矩形: 圆角 90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2" name="矩形: 圆角 91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3" name="矩形: 圆角 92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4" name="矩形: 圆角 93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5" name="矩形: 圆角 94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6" name="矩形: 圆角 95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1406188" y="142466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9" name="矩形: 圆角 78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0" name="矩形: 圆角 79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矩形: 圆角 80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2" name="矩形: 圆角 81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3" name="矩形: 圆角 82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矩形: 圆角 83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5" name="矩形: 圆角 84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矩形: 圆角 85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7" name="矩形: 圆角 86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1406188" y="397388"/>
              <a:ext cx="1876425" cy="123825"/>
              <a:chOff x="11406188" y="-622300"/>
              <a:chExt cx="1876425" cy="123825"/>
            </a:xfrm>
            <a:grpFill/>
          </p:grpSpPr>
          <p:sp>
            <p:nvSpPr>
              <p:cNvPr id="70" name="矩形: 圆角 69"/>
              <p:cNvSpPr/>
              <p:nvPr/>
            </p:nvSpPr>
            <p:spPr>
              <a:xfrm>
                <a:off x="131587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矩形: 圆角 70"/>
              <p:cNvSpPr/>
              <p:nvPr/>
            </p:nvSpPr>
            <p:spPr>
              <a:xfrm>
                <a:off x="129397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2" name="矩形: 圆角 71"/>
              <p:cNvSpPr/>
              <p:nvPr/>
            </p:nvSpPr>
            <p:spPr>
              <a:xfrm>
                <a:off x="127206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3" name="矩形: 圆角 72"/>
              <p:cNvSpPr/>
              <p:nvPr/>
            </p:nvSpPr>
            <p:spPr>
              <a:xfrm>
                <a:off x="125015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4" name="矩形: 圆角 73"/>
              <p:cNvSpPr/>
              <p:nvPr/>
            </p:nvSpPr>
            <p:spPr>
              <a:xfrm>
                <a:off x="122824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5" name="矩形: 圆角 74"/>
              <p:cNvSpPr/>
              <p:nvPr/>
            </p:nvSpPr>
            <p:spPr>
              <a:xfrm>
                <a:off x="1206341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6" name="矩形: 圆角 75"/>
              <p:cNvSpPr/>
              <p:nvPr/>
            </p:nvSpPr>
            <p:spPr>
              <a:xfrm>
                <a:off x="1184433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7" name="矩形: 圆角 76"/>
              <p:cNvSpPr/>
              <p:nvPr/>
            </p:nvSpPr>
            <p:spPr>
              <a:xfrm>
                <a:off x="11625263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8" name="矩形: 圆角 77"/>
              <p:cNvSpPr/>
              <p:nvPr/>
            </p:nvSpPr>
            <p:spPr>
              <a:xfrm>
                <a:off x="11406188" y="-622300"/>
                <a:ext cx="123825" cy="1238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5159851" y="1701282"/>
            <a:ext cx="232791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altLang="zh-CN" sz="1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94075" y="3837940"/>
            <a:ext cx="6489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Supersonic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结果处理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750" y="113100"/>
            <a:ext cx="10969200" cy="705600"/>
          </a:xfrm>
        </p:spPr>
        <p:txBody>
          <a:bodyPr/>
          <a:p>
            <a:r>
              <a:rPr lang="zh-CN" altLang="en-US"/>
              <a:t>步骤</a:t>
            </a:r>
            <a:r>
              <a:rPr lang="en-US" altLang="zh-CN"/>
              <a:t>5                 </a:t>
            </a:r>
            <a:r>
              <a:rPr lang="zh-CN" altLang="en-US"/>
              <a:t>解析结果处理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4030" y="5973445"/>
            <a:ext cx="114020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KeywordMapper</a:t>
            </a:r>
            <a:r>
              <a:rPr lang="zh-CN" altLang="en-US"/>
              <a:t>：</a:t>
            </a:r>
            <a:r>
              <a:rPr lang="zh-CN" altLang="en-US" sz="1400"/>
              <a:t>根据预定义字典中的专业词</a:t>
            </a:r>
            <a:r>
              <a:rPr lang="en-US" altLang="zh-CN" sz="1400"/>
              <a:t>  ---</a:t>
            </a:r>
            <a:r>
              <a:rPr lang="zh-CN" altLang="en-US" sz="1400"/>
              <a:t>映射</a:t>
            </a:r>
            <a:r>
              <a:rPr lang="en-US" altLang="zh-CN" sz="1400"/>
              <a:t>---</a:t>
            </a:r>
            <a:r>
              <a:rPr lang="zh-CN" altLang="en-US" sz="1400">
                <a:sym typeface="+mn-ea"/>
              </a:rPr>
              <a:t>用户问题</a:t>
            </a:r>
            <a:r>
              <a:rPr lang="zh-CN" altLang="en-US" sz="1400"/>
              <a:t>关键词，（使用</a:t>
            </a:r>
            <a:r>
              <a:rPr lang="en-US" altLang="zh-CN" sz="1400"/>
              <a:t>HanLP</a:t>
            </a:r>
            <a:r>
              <a:rPr lang="zh-CN" altLang="en-US" sz="1400"/>
              <a:t>对</a:t>
            </a:r>
            <a:r>
              <a:rPr lang="en-US" altLang="zh-CN" sz="1400"/>
              <a:t> </a:t>
            </a:r>
            <a:r>
              <a:rPr lang="zh-CN" altLang="en-US" sz="1400"/>
              <a:t>用户问题进行分词和匹配数据集中的字段）；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494030" y="5605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PartitionTimeMapper</a:t>
            </a:r>
            <a:r>
              <a:rPr lang="zh-CN" altLang="en-US"/>
              <a:t>：</a:t>
            </a:r>
            <a:r>
              <a:rPr lang="zh-CN" altLang="en-US" sz="1400"/>
              <a:t>提取时间字段；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122555" y="845185"/>
            <a:ext cx="548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操作对象：</a:t>
            </a:r>
            <a:r>
              <a:rPr lang="en-US" altLang="zh-CN"/>
              <a:t>queryContext(...,</a:t>
            </a:r>
            <a:r>
              <a:rPr lang="en-US" altLang="zh-CN" b="1">
                <a:solidFill>
                  <a:srgbClr val="FF0000"/>
                </a:solidFill>
              </a:rPr>
              <a:t>candidateQueries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9" name="内容占位符 8"/>
          <p:cNvSpPr/>
          <p:nvPr>
            <p:ph idx="1"/>
            <p:custDataLst>
              <p:tags r:id="rId2"/>
            </p:custDataLst>
          </p:nvPr>
        </p:nvSpPr>
        <p:spPr>
          <a:xfrm>
            <a:off x="122555" y="1490345"/>
            <a:ext cx="11978005" cy="378587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操作方法栈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/>
              <a:t>     </a:t>
            </a:r>
            <a:r>
              <a:rPr lang="en-US">
                <a:solidFill>
                  <a:srgbClr val="FF0000"/>
                </a:solidFill>
              </a:rPr>
              <a:t>processor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</a:t>
            </a:r>
            <a:r>
              <a:rPr lang="zh-CN" altLang="en-US" sz="1600">
                <a:sym typeface="+mn-ea"/>
              </a:rPr>
              <a:t>遍历</a:t>
            </a:r>
            <a:r>
              <a:rPr lang="en-US" altLang="zh-CN" sz="1200">
                <a:sym typeface="+mn-ea"/>
              </a:rPr>
              <a:t>QueryRecommendProcessor</a:t>
            </a:r>
            <a:r>
              <a:rPr lang="zh-CN" altLang="en-US" sz="1200">
                <a:sym typeface="+mn-ea"/>
              </a:rPr>
              <a:t>、</a:t>
            </a:r>
            <a:r>
              <a:rPr lang="en-US" altLang="zh-CN" sz="1200">
                <a:sym typeface="+mn-ea"/>
              </a:rPr>
              <a:t>TimeCostCalcProcessor</a:t>
            </a:r>
            <a:r>
              <a:rPr lang="zh-CN" altLang="en-US" sz="1200">
                <a:sym typeface="+mn-ea"/>
              </a:rPr>
              <a:t>、</a:t>
            </a:r>
            <a:r>
              <a:rPr lang="en-US" altLang="zh-CN" sz="1200">
                <a:sym typeface="+mn-ea"/>
              </a:rPr>
              <a:t>ErrorMsgRewriteProcessor</a:t>
            </a:r>
            <a:r>
              <a:rPr lang="zh-CN" altLang="en-US" sz="1200">
                <a:sym typeface="+mn-ea"/>
              </a:rPr>
              <a:t>、</a:t>
            </a:r>
            <a:r>
              <a:rPr lang="en-US" altLang="zh-CN" sz="1200">
                <a:sym typeface="+mn-ea"/>
              </a:rPr>
              <a:t>   ParseInfoFormatProcessor</a:t>
            </a:r>
            <a:endParaRPr lang="en-US" altLang="zh-CN" sz="2800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  	</a:t>
            </a:r>
            <a:r>
              <a:rPr lang="en-US" altLang="zh-CN" u="sng">
                <a:solidFill>
                  <a:srgbClr val="FF0000"/>
                </a:solidFill>
              </a:rPr>
              <a:t>processor.</a:t>
            </a:r>
            <a:r>
              <a:rPr lang="en-US" altLang="zh-CN" u="sng">
                <a:solidFill>
                  <a:srgbClr val="FF0000"/>
                </a:solidFill>
              </a:rPr>
              <a:t>process</a:t>
            </a:r>
            <a:r>
              <a:rPr lang="zh-CN" altLang="en-US" u="sng">
                <a:solidFill>
                  <a:srgbClr val="FF0000"/>
                </a:solidFill>
              </a:rPr>
              <a:t>（）</a:t>
            </a:r>
            <a:endParaRPr lang="zh-CN" altLang="en-US" u="sng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670" y="3105150"/>
            <a:ext cx="4810125" cy="1790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6625</Words>
  <Application>WPS 演示</Application>
  <PresentationFormat>宽屏</PresentationFormat>
  <Paragraphs>1000</Paragraphs>
  <Slides>39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Arial</vt:lpstr>
      <vt:lpstr>宋体</vt:lpstr>
      <vt:lpstr>Wingdings</vt:lpstr>
      <vt:lpstr>Wingdings</vt:lpstr>
      <vt:lpstr>微软雅黑</vt:lpstr>
      <vt:lpstr>黑体</vt:lpstr>
      <vt:lpstr>Arial Black</vt:lpstr>
      <vt:lpstr>Arial Unicode MS</vt:lpstr>
      <vt:lpstr>Calibri</vt:lpstr>
      <vt:lpstr>Times New Roman</vt:lpstr>
      <vt:lpstr>WPS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步骤1           用户问题映射SQL字段</vt:lpstr>
      <vt:lpstr>PowerPoint 演示文稿</vt:lpstr>
      <vt:lpstr>步骤2  纯Rule生成SQL——获取字段 </vt:lpstr>
      <vt:lpstr>步骤2.1 纯Rule_SQL——获取字段（关键词） </vt:lpstr>
      <vt:lpstr>步骤2.2  纯Rule生成SQL——获取字段（时间和类型） </vt:lpstr>
      <vt:lpstr>步骤2.3  纯Rule_SQL ——构建语义SQL</vt:lpstr>
      <vt:lpstr>步骤2.4（可选）  LLM进一步生成SQL </vt:lpstr>
      <vt:lpstr>PowerPoint 演示文稿</vt:lpstr>
      <vt:lpstr>步骤3          语义SQL纠正S2SQL_CORRECTING</vt:lpstr>
      <vt:lpstr>PowerPoint 演示文稿</vt:lpstr>
      <vt:lpstr>步骤4                 语义SQL转实际SQL语句</vt:lpstr>
      <vt:lpstr>PowerPoint 演示文稿</vt:lpstr>
      <vt:lpstr>步骤5                 物理纠正SQL语句</vt:lpstr>
      <vt:lpstr>PowerPoint 演示文稿</vt:lpstr>
      <vt:lpstr>步骤5                 解析结果处理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卞庆朝</cp:lastModifiedBy>
  <cp:revision>183</cp:revision>
  <dcterms:created xsi:type="dcterms:W3CDTF">2019-06-19T02:08:00Z</dcterms:created>
  <dcterms:modified xsi:type="dcterms:W3CDTF">2025-11-27T03:40:35Z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F02AE79849E34355807E7740C3B7EA34_11</vt:lpwstr>
  </property>
</Properties>
</file>